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55" r:id="rId1"/>
  </p:sldMasterIdLst>
  <p:notesMasterIdLst>
    <p:notesMasterId r:id="rId11"/>
  </p:notesMasterIdLst>
  <p:handoutMasterIdLst>
    <p:handoutMasterId r:id="rId12"/>
  </p:handoutMasterIdLst>
  <p:sldIdLst>
    <p:sldId id="256" r:id="rId9"/>
    <p:sldId id="257" r:id="rId10"/>
    <p:sldId id="258" r:id="rId8"/>
    <p:sldId id="259" r:id="rId7"/>
    <p:sldId id="260" r:id="rId6"/>
    <p:sldId id="261" r:id="rId5"/>
    <p:sldId id="262" r:id="rId4"/>
    <p:sldId id="263" r:id="rId3"/>
    <p:sldId id="264" r:id="rId2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üleyha Yılmaz" initials="ZY" lastIdx="2" clrIdx="0">
    <p:extLst>
      <p:ext uri="{19B8F6BF-5375-455C-9EA6-DF929625EA0E}">
        <p15:presenceInfo xmlns:p15="http://schemas.microsoft.com/office/powerpoint/2012/main" userId="bd933f2ac9780f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CC14"/>
    <a:srgbClr val="00234A"/>
    <a:srgbClr val="BBE3FA"/>
    <a:srgbClr val="B76000"/>
    <a:srgbClr val="B94848"/>
    <a:srgbClr val="F2D7B1"/>
    <a:srgbClr val="281EFA"/>
    <a:srgbClr val="B8A5FF"/>
    <a:srgbClr val="0000FF"/>
    <a:srgbClr val="AD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Orta Stil 4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ABFCF23-3B69-468F-B69F-88F6DE6A72F2}" styleName="Orta Stil 1 - Vurgu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Orta Stil 4 - Vurgu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Orta Stil 3 - Vurgu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Açık Stil 3 - Vurgu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Orta Stil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Orta Stil 1 - Vurgu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93878" autoAdjust="0"/>
  </p:normalViewPr>
  <p:slideViewPr>
    <p:cSldViewPr snapToGrid="0">
      <p:cViewPr varScale="1">
        <p:scale>
          <a:sx n="77" d="100"/>
          <a:sy n="77" d="100"/>
        </p:scale>
        <p:origin x="123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6820EC53-40A7-49F0-B6A6-617F1EDB2B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0ACEE36-9EB3-4444-B50B-61B32BEBB6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1A01E-85C4-4620-9ABC-01F095866B4A}" type="datetimeFigureOut">
              <a:rPr lang="tr-TR" smtClean="0"/>
              <a:t>30.12.2024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66BB19A-D74B-486F-8F1D-2744078B95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353889D-AA8A-4D54-BBBC-31B256046A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D47B1-97E0-4973-A7CD-325D926C48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10435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2C0D7-40E7-4EF3-A5F5-4E439C456BDC}" type="datetimeFigureOut">
              <a:rPr lang="tr-TR" smtClean="0"/>
              <a:t>30.12.2024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40E96-966A-4767-9A41-0B33EFC37FE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56670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5B4D3-2163-4719-A622-B4FA80AD4210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30846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5B4D3-2163-4719-A622-B4FA80AD4210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30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4E30-90A1-4AA2-9185-FDBC67727CD8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78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4E30-90A1-4AA2-9185-FDBC67727CD8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7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01BF-ABDD-4AF2-BB40-A27407734071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01BF-ABDD-4AF2-BB40-A27407734071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BE6D4-D6AF-4726-A9C3-F423F21C88A9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0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BE6D4-D6AF-4726-A9C3-F423F21C88A9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0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D34D-D8E3-475C-BD2A-3C47952FF234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80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D34D-D8E3-475C-BD2A-3C47952FF234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80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DCCF4-E217-402B-BA8C-33DD8CB0224A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9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DCCF4-E217-402B-BA8C-33DD8CB0224A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9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C469B-456C-4EEB-A920-EE135CD1CD92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52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C469B-456C-4EEB-A920-EE135CD1CD92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52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B48D-AA94-41C1-B777-1E726F73FC65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B48D-AA94-41C1-B777-1E726F73FC65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7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4911-A6E5-4A84-9EFB-A49CBA6F9DE5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0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4911-A6E5-4A84-9EFB-A49CBA6F9DE5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0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3D80-D753-4CDD-A37F-122A7C4E5816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1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3D80-D753-4CDD-A37F-122A7C4E5816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1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227C9-5435-4A25-BCA8-A7650166233D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21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227C9-5435-4A25-BCA8-A7650166233D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211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D6D4-1441-476F-8DAB-AAA17FA31C7D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2691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D6D4-1441-476F-8DAB-AAA17FA31C7D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2691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2953E-8EE8-4E7D-A9F5-FE12E33E6220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81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2953E-8EE8-4E7D-A9F5-FE12E33E6220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81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22F76-6735-463B-ACBB-B6714DC3685E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763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22F76-6735-463B-ACBB-B6714DC3685E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763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C5FE9-CC23-4A09-A7B9-55CA70654D75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89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C5FE9-CC23-4A09-A7B9-55CA70654D75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89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8544-3FAC-4AF8-B1EE-6B12DA6711F5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286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8544-3FAC-4AF8-B1EE-6B12DA6711F5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286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1FDD4-6553-424B-A996-06BB3A9CA4DF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09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1FDD4-6553-424B-A996-06BB3A9CA4DF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099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5B47A-42A1-468D-AE02-C8F0AB97CA56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100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56" r:id="rId1"/>
    <p:sldLayoutId id="2147484357" r:id="rId2"/>
    <p:sldLayoutId id="2147484358" r:id="rId3"/>
    <p:sldLayoutId id="2147484359" r:id="rId4"/>
    <p:sldLayoutId id="2147484360" r:id="rId5"/>
    <p:sldLayoutId id="2147484361" r:id="rId6"/>
    <p:sldLayoutId id="2147484362" r:id="rId7"/>
    <p:sldLayoutId id="2147484363" r:id="rId8"/>
    <p:sldLayoutId id="2147484364" r:id="rId9"/>
    <p:sldLayoutId id="2147484365" r:id="rId10"/>
    <p:sldLayoutId id="2147484366" r:id="rId11"/>
    <p:sldLayoutId id="2147484367" r:id="rId12"/>
    <p:sldLayoutId id="2147484368" r:id="rId13"/>
    <p:sldLayoutId id="2147484369" r:id="rId14"/>
    <p:sldLayoutId id="2147484370" r:id="rId15"/>
    <p:sldLayoutId id="2147484371" r:id="rId16"/>
    <p:sldLayoutId id="2147484372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5B47A-42A1-468D-AE02-C8F0AB97CA56}" type="datetime1">
              <a:rPr lang="en-US" smtClean="0"/>
              <a:t>12/30/2024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100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56" r:id="rId1"/>
    <p:sldLayoutId id="2147484357" r:id="rId2"/>
    <p:sldLayoutId id="2147484358" r:id="rId3"/>
    <p:sldLayoutId id="2147484359" r:id="rId4"/>
    <p:sldLayoutId id="2147484360" r:id="rId5"/>
    <p:sldLayoutId id="2147484361" r:id="rId6"/>
    <p:sldLayoutId id="2147484362" r:id="rId7"/>
    <p:sldLayoutId id="2147484363" r:id="rId8"/>
    <p:sldLayoutId id="2147484364" r:id="rId9"/>
    <p:sldLayoutId id="2147484365" r:id="rId10"/>
    <p:sldLayoutId id="2147484366" r:id="rId11"/>
    <p:sldLayoutId id="2147484367" r:id="rId12"/>
    <p:sldLayoutId id="2147484368" r:id="rId13"/>
    <p:sldLayoutId id="2147484369" r:id="rId14"/>
    <p:sldLayoutId id="2147484370" r:id="rId15"/>
    <p:sldLayoutId id="2147484371" r:id="rId16"/>
    <p:sldLayoutId id="2147484372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0234A"/>
                </a:solidFill>
                <a:latin typeface="Bookman Old Style"/>
              </a:rPr>
              <a:t>T.C.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00234A"/>
                </a:solidFill>
                <a:latin typeface="Bookman Old Style"/>
              </a:rPr>
              <a:t>SELÇUK ÜNİVERSİTESİ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0234A"/>
                </a:solidFill>
                <a:latin typeface="Bookman Old Style"/>
              </a:rPr>
              <a:t>TEKNOLOJİ FAKÜLTESİ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0234A"/>
                </a:solidFill>
                <a:latin typeface="Bookman Old Style"/>
              </a:rPr>
              <a:t>BİLGİSAYAR MÜHENDİSLİĞİ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00234A"/>
                </a:solidFill>
                <a:latin typeface="Bookman Old Style"/>
              </a:rPr>
              <a:t>DÖVİZ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00234A"/>
                </a:solidFill>
                <a:latin typeface="Bookman Old Style"/>
              </a:rPr>
              <a:t>Yapay Zeka Destekli Kur Takip ve Portföy</a:t>
            </a:r>
            <a:br/>
            <a:r>
              <a:t>Yönetimi Mobil Uygulaması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00234A"/>
                </a:solidFill>
                <a:latin typeface="Bookman Old Style"/>
              </a:rPr>
              <a:t>Bilgisayar Mühendisliği Uygulamaları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00234A"/>
                </a:solidFill>
                <a:latin typeface="Bookman Old Style"/>
              </a:rPr>
              <a:t>220202069  Çağrı Tekin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1">
                <a:solidFill>
                  <a:srgbClr val="00234A"/>
                </a:solidFill>
                <a:latin typeface="Bookman Old Style"/>
              </a:rPr>
              <a:t>Danışman Unvan Adı ve Soyadı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00234A"/>
                </a:solidFill>
                <a:latin typeface="Bookman Old Style"/>
              </a:rPr>
              <a:t>Konya,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İçindekiler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1. Giriş – Problem Tanımı &amp; Motivasyon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2. Giriş – Proje Kapsamı &amp; Özgün Katkılar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3. Kaynak Araştırması – Mobil Fintech Literatürü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4. Kaynak Araştırması – RAFT, LoRA ve LLM Değerlendirme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5–8. Materyal ve Yöntem (Mimari / RAFT / AI Pipeline / Backend / Frontend)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9–10. Araştırma Sonuçları ve Tartışma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11. Sonuçlar ve Öneriler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12. Kaynaklar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13. Teşekkürler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Giriş — Problem Tanımı ve Motivasyon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Döviz kurları, enflasyon ve faiz oranları bireysel yatırım kararlarını doğrudan etkiler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Mevcut uygulamalar kur gösterimi sunar; ancak makroekonomik bağlamı yorumlamaz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Küçük yatırımcılar uzman analiz raporlarına erişimde maliyet engeli yaşar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Büyük Dil Modelleri (LLM) finansal metin üretiminde yetkin sonuçlar göstermiştir</a:t>
            </a:r>
            <a:br/>
            <a:r>
              <a:t>(BloombergGPT, FinGPT)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→ Hedef: Makroekonomik verileri gerçek zamanlı işleyerek otomatik haber ve</a:t>
            </a:r>
            <a:br/>
            <a:r>
              <a:t>  portföy analizi üreten yerel LLM destekli mobil uygulama geliştirmek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Giriş — Proje Kapsamı ve Özgün Katkılar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Kapsam: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TCMB + EVDS + NewsAPI verilerini entegre eden tam yığın uygulama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Türkçe makro veri ile RAFT yöntemiyle ince ayar yapılmış Qwen2.5-3B modeli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Deterministik AL/TUT/SAT karar motoru (kural tabanlı güvenlik katmanı)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DeepEval çerçevesiyle sistematik LLM değerlendirmesi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Özgün Katkılar: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Türkçe makroekonomik RAFT veri seti oluşturulması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Qwen2.5-3B LoRA adapter'ının risk sınıflandırma görevine uyarlanması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Yerel (Ollama) + bulut (Gemini) hibrit AI pipeline mimarisi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39 test senaryosu içeren DeepEval test paketi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Kaynak Araştırması — Mobil Fintech ve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5/15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Mobil Fintech Uygulamaları: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Kişisel finans uygulamaları 2024 itibarıyla 3,5 milyar kullanıcıya ulaştı (Statista)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Türkiye'de döviz takip uygulamaları yüksek talep görse de AI entegrasyonu sınırlı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Finansal LLM Literatürü: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BloombergGPT (Wu et al., 2023) – 50B param., Bloomberg veri seti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FinGPT (Yang et al., 2023) – açık kaynak, LoRA ince ayar odaklı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Küçük modeller (3B–7B) düşük donanımda çalışabilir ancak domain adaptasyonu gerektirir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Makroekonomik Analiz: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Meese-Rogoff paradoksu: kur tahmininde temel modeller rastgele yürüyüşü yenemez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Taylor Kuralı ve PPP; kur hareketlerini açıklamada sınırlı başarı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LLM destekli haber analizinin kısa vadeli tahmin doğruluğunu artırdığına dair bulgular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Kaynak Araştırması — RAFT, LoRA ve LLM Değerlendirme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6/15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RAFT (Retrieval-Augmented Fine-Tuning):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Zhang et al. (2024): LLM'in kendi domainindeki bilgiyi RAG bağlamından ayırt etmesini öğretir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Distraktör dokümanlar ile dayanıklılık artar; halüsinasyon azalır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LoRA (Low-Rank Adaptation):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Hu et al. (2021): ağırlık matrislerine düşük dereceli güncelleme eklenir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Parametre sayısı %99 azaltılır; 115 MB adapter ile tam fine-tune kalitesi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LLM Değerlendirme — DeepEval: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Zhuang et al. (2024): GEval, AnswerRelevancy, Faithfulness metrikleri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Kural tabanlı (şema uyumu, enum doğrulama) + model tabanlı (G-Eval) hibrit yaklaşım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Projedeki uygulama: 39 mock test + gerçek API testi; tümü geçildi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Materyal ve Yöntem — Genel Sistem Mimarisi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7/15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3 ana katman: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MOBİL  →  React Native 0.81 + TypeScript 5.9 + Expo ~54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           TanStack Query v5 | Zustand v5 | Expo SecureStore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API    →  Go 1.24 + Gin v1.10  (:8080)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           JWT HS256 | Rate Limit | CORS | Slot Limiter (maks. 3)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           /auth/* | /api/v1/* | /ws/currencies | /internal/*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VERİ   →  Supabase PostgreSQL 16 + RLS + Realtime + Auth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           Python FastAPI :8001 (EVDS makro seriler)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           TCMB XML API (anlık kurlar, 60 sn önbellek)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           Ollama :11434 (Qwen2.5-3B LoRA) + Gemini 2.0 Flash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Materyal ve Yöntem — RAFT İnce Ayar Süreci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8/15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Veri Hazırlama: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EVDS'den 6 makroekonomik seri: USD/TRY, EUR/TRY, enflasyon,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  faiz, M2 para arzı, döviz rezervleri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Her örnek: sistem bağlamı + alaka vektörü (oracle doc) + 4 distraktör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FNV32 hash ile deterministik distraktör seçimi (tarih bazlı)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Eğitim: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Baz model: Qwen/Qwen2.5-3B-Instruct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LoRA parametreleri: r=16, alpha=32, dropout=0.05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Görev: risk_bolgesi ∈ {RISKLI, NOTR, GUVENLI} + proj_ust/alt + başlık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Çıktı: 115 MB safetensors adapter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Çıkarım: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Ollama ile yerel servis; temperature=0.0, num_predict=4096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3 deneme ile yeniden deneme; tam hata durumunda NOTR varsayılan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Materyal ve Yöntem — AI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9/15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İki pipeline türü: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GenerateNews (Haber Oluşturma):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1. EVDS'den makro veriler çekilir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2. NewsAPI'dan güncel başlıklar alınır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3. Qwen → risk tahmini + projeksiyon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4. Gemini 2.0 Flash → haber zenginleştirme (başlık + özet + içerik)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5. Supabase'e kaydedilir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GeneratePortfolioAnalysis (Portföy Analizi):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1. Kullanıcı portföyü + makro veri + başlıklar birleştirilir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2. Qwen → risk analizi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3. computeDovizOnerileri() → kural tabanlı AL/TUT/SAT kararı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   (Zarar &lt; -5% → SAT | Kâr &gt; +10% &amp; GUVENLI → TUT | diğer → AL)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4. Gemini → zenginleştirme | Gemini 429 → qwenToFallbackEnriched()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5. Supabase'e kaydedilir; WebSocket ile anlık iletim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Materyal ve Yöntem — Backend ve Veri Katmanı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10/15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Go 1.24 Backend (finans-backend):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main.go: 17 ortam değişkeni, 3 goroutine (CurrencyHub, RateWatcher, Scheduler)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Middleware zinciri: Recovery → corsMiddleware → Logger → JWTAuth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Slot limiter: chan struct{} ile eş zamanlı maks. 3 pipeline isteği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pgx v5.8 ile Supabase bağlantısı; gorilla/websocket v1.5.3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Python Mikro Servisi (FastAPI :8001):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fetcher.py → EVDS'den 6 makro serisi çeker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noise_filter.py → altin_sapma bayrağı (altın ithalat anomalisi)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currency_history.py → geçmiş kur verileri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Veritabanı (Supabase PostgreSQL 16):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Tablolar: users, portfolios, assets, analysis_results, news_items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Row Level Security (RLS) ile kullanıcı izolasyonu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Realtime kanalı ile anlık varlık fiyat güncellemeleri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TCMB XML → sync.RWMutex korumalı 60 sn önbellek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Materyal ve Yöntem — React Native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11/15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Teknoloji Yığını: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React Native 0.81.5 + TypeScript 5.9 + Expo ~54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TanStack Query v5 – sunucu durumu &amp; önbellek yönetimi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Zustand v5 – istemci global durumu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Zod v4 – çalışma zamanı şema doğrulama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Expo SecureStore – JWT güvenli depolama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Ekranlar: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HomeScreen  – anlık kurlar + WebSocket fiyat akışı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NewsScreen  – AI üretimi haber kartları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SearchScreen – döviz/varlık arama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MenuScreen  – portföy + profil + analiz tetikleme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UI Detayları: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tabular-nums font varyantı – finansal sayı hizalaması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victory-native – portföy zaman serisi grafikleri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@gorhom/bottom-sheet – portföy detay paneli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Araştırma Sonuçları — DeepEval Test Metrikleri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12/15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Test Paketi: deepeval_tests/test_model_mock.py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→ 39/39 test geçti (API gerektirmez; gerçekçi mock yanıtlar)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Test Kategorileri ve Sonuçları: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✓ Şema Uyumu           – JSON alanları, tipler, enum değerleri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✓ Risk Sınıflandırması – RISKLI / NOTR / GUVENLI doğruluğu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✓ Projeksiyon Aralığı  – proj_ust &gt; proj_alt; [0, 500] sınırı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✓ Haber Kalitesi       – başlık ≤ 80 karakter; özet ≥ 50 kelime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✓ JSON Çıkarma         – markdown fence + ham {} işleme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✓ Doğrulayıcı Sınırı   – AnalysisValidator zincirleme yöntemleri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✓ Yeniden Deneme       – 3 deneme, NOTR geri dönüş davranışı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GEval (model tabanlı) testleri: OPENAI_API_KEY gerektirir,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test_model.py içinde tanımlandı; mock paketten ayrı tutuldu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Araştırma Sonuçları — Sistem Performans Metrikleri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13/15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API Performansı: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Sağlık denetimi (GET /health)        → ~2 ms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Kur listeleme (GET /api/v1/rates)     → ~15 ms (önbellekten)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Portföy analizi tetikleme             → ~8–45 sn (Qwen + Gemini)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WebSocket mesaj gecikmesi             → &lt;100 ms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AI Pipeline: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Qwen2.5-3B (Ollama, yerel GPU/CPU)   → ~4–12 sn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Gemini 2.0 Flash zenginleştirme       → ~3–7 sn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Slot limiter: eş zamanlı 3 istek ile kaynak kullanımı kontrol altında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Model Doğruluğu: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Risk sınıflandırma tutarlılığı (mock test): %100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JSON şema uyumu: %100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Projeksiyon aralık geçerlilik oranı: %100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Güvenlik: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JWT HS256 + RLS + rate limit: yetkisiz erişim engellendi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• InternalSecret korumalı /internal/* endpoint'leri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Bookman Old Style"/>
              </a:rPr>
              <a:t>Sonuçlar ve Öneriler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14/15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234A"/>
                </a:solidFill>
                <a:latin typeface="Bookman Old Style"/>
              </a:rPr>
              <a:t>Çağrı Tekin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BMU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6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Sonuçlar: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1. RAFT + LoRA ile Qwen2.5-3B, Türkçe makro risk sınıflandırmasında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   yüksek tutarlılık sergiledi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2. Deterministik AL/TUT/SAT motoru LLM halüsinasyonunu önledi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3. Hibrit yerel+bulut pipeline uygulanabilir maliyet/gecikme dengesi sağladı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4. DeepEval test paketi sürekli entegrasyon için kullanılabilir hale geldi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5. IAssetProvider arayüzü Altın ve BIST genişlemesine hazır mimari sağladı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0234A"/>
                </a:solidFill>
                <a:latin typeface="Bookman Old Style"/>
              </a:rPr>
              <a:t>Öneriler: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1. Gemini model adı hatası giderilmeli (gemini-2.0-flash kullanılmalı)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2. Ayrı test API anahtarı edinilmeli; gerçek API testleri CI'a eklenmeli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3. Qwen2.5-7B ile daha büyük model karşılaştırması yapılmalı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4. BIST hisse senetleri ve altın varlıkları için IAssetProvider implemente edilmeli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5. A/B testi: deterministik karar motoru vs. tamamen LLM tabanlı çıktı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00234A"/>
                </a:solidFill>
                <a:latin typeface="Bookman Old Style"/>
              </a:rPr>
              <a:t>  6. Türkçe finans benchmark veri seti (halka açık) oluşturulmalı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0234A"/>
                </a:solidFill>
                <a:latin typeface="Bookman Old Style"/>
              </a:rPr>
              <a:t>T.C.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00234A"/>
                </a:solidFill>
                <a:latin typeface="Bookman Old Style"/>
              </a:rPr>
              <a:t>SELÇUK ÜNİVERSİTESİ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0234A"/>
                </a:solidFill>
                <a:latin typeface="Bookman Old Style"/>
              </a:rPr>
              <a:t>TEKNOLOJİ FAKÜLTESİ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0234A"/>
                </a:solidFill>
                <a:latin typeface="Bookman Old Style"/>
              </a:rPr>
              <a:t>BİLGİSAYAR MÜHENDİSLİĞİ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00234A"/>
                </a:solidFill>
                <a:latin typeface="Bookman Old Style"/>
              </a:rPr>
              <a:t>Teşekkürler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00234A"/>
                </a:solidFill>
                <a:latin typeface="Bookman Old Style"/>
              </a:rPr>
              <a:t>Sorularınız için teşekkürler.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127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0234A"/>
                </a:solidFill>
                <a:latin typeface="Bookman Old Style"/>
              </a:rPr>
              <a:t>Çağrı Tekin  |  220202069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7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234A"/>
                </a:solidFill>
                <a:latin typeface="Bookman Old Style"/>
              </a:rPr>
              <a:t>15/15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Özel 3">
      <a:majorFont>
        <a:latin typeface="Bookman Old Style"/>
        <a:ea typeface=""/>
        <a:cs typeface=""/>
      </a:majorFont>
      <a:minorFont>
        <a:latin typeface="Rockwell"/>
        <a:ea typeface="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Özel 3">
      <a:majorFont>
        <a:latin typeface="Bookman Old Style"/>
        <a:ea typeface=""/>
        <a:cs typeface=""/>
      </a:majorFont>
      <a:minorFont>
        <a:latin typeface="Rockwell"/>
        <a:ea typeface="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41626</TotalTime>
  <Words>136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Bookman Old Style</vt:lpstr>
      <vt:lpstr>Calibri</vt:lpstr>
      <vt:lpstr>Cambria</vt:lpstr>
      <vt:lpstr>Rockwell</vt:lpstr>
      <vt:lpstr>Wingdings</vt:lpstr>
      <vt:lpstr>Damask</vt:lpstr>
      <vt:lpstr>PowerPoint Presentation</vt:lpstr>
      <vt:lpstr> İçindekiler</vt:lpstr>
      <vt:lpstr> Giriş</vt:lpstr>
      <vt:lpstr>  Kaynak Araştırması</vt:lpstr>
      <vt:lpstr> Materyal ve Yöntem</vt:lpstr>
      <vt:lpstr> Araştırma Sonuçları ve Tartışma</vt:lpstr>
      <vt:lpstr> Sonuçlar ve Öneriler</vt:lpstr>
      <vt:lpstr> Kaynaklar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Burak Tezcan</cp:lastModifiedBy>
  <cp:revision>928</cp:revision>
  <dcterms:created xsi:type="dcterms:W3CDTF">2014-09-16T21:27:06Z</dcterms:created>
  <dcterms:modified xsi:type="dcterms:W3CDTF">2024-12-30T10:02:24Z</dcterms:modified>
</cp:coreProperties>
</file>