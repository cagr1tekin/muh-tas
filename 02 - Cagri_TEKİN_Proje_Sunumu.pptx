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5" r:id="rId1"/>
  </p:sldMasterIdLst>
  <p:notesMasterIdLst>
    <p:notesMasterId r:id="rId13"/>
  </p:notesMasterIdLst>
  <p:handoutMasterIdLst>
    <p:handoutMasterId r:id="rId14"/>
  </p:handoutMasterIdLst>
  <p:sldIdLst>
    <p:sldId id="256" r:id="rId2"/>
    <p:sldId id="439" r:id="rId3"/>
    <p:sldId id="418" r:id="rId4"/>
    <p:sldId id="422" r:id="rId5"/>
    <p:sldId id="440" r:id="rId6"/>
    <p:sldId id="443" r:id="rId7"/>
    <p:sldId id="444" r:id="rId8"/>
    <p:sldId id="441" r:id="rId9"/>
    <p:sldId id="419" r:id="rId10"/>
    <p:sldId id="442" r:id="rId11"/>
    <p:sldId id="401" r:id="rId1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üleyha Yılmaz" initials="ZY" lastIdx="2" clrIdx="0">
    <p:extLst>
      <p:ext uri="{19B8F6BF-5375-455C-9EA6-DF929625EA0E}">
        <p15:presenceInfo xmlns:p15="http://schemas.microsoft.com/office/powerpoint/2012/main" userId="bd933f2ac9780f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34A"/>
    <a:srgbClr val="FDCC14"/>
    <a:srgbClr val="BBE3FA"/>
    <a:srgbClr val="B76000"/>
    <a:srgbClr val="B94848"/>
    <a:srgbClr val="F2D7B1"/>
    <a:srgbClr val="281EFA"/>
    <a:srgbClr val="B8A5FF"/>
    <a:srgbClr val="0000FF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Orta Stil 3 - Vurgu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Açık Stil 3 - Vurgu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Orta Stil 1 - Vurgu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3878" autoAdjust="0"/>
  </p:normalViewPr>
  <p:slideViewPr>
    <p:cSldViewPr snapToGrid="0">
      <p:cViewPr varScale="1">
        <p:scale>
          <a:sx n="89" d="100"/>
          <a:sy n="89" d="100"/>
        </p:scale>
        <p:origin x="78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6820EC53-40A7-49F0-B6A6-617F1EDB2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0ACEE36-9EB3-4444-B50B-61B32BEBB6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1A01E-85C4-4620-9ABC-01F095866B4A}" type="datetimeFigureOut">
              <a:rPr lang="tr-TR" smtClean="0"/>
              <a:t>1.06.2026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66BB19A-D74B-486F-8F1D-2744078B95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353889D-AA8A-4D54-BBBC-31B256046A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D47B1-97E0-4973-A7CD-325D926C48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1043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2C0D7-40E7-4EF3-A5F5-4E439C456BDC}" type="datetimeFigureOut">
              <a:rPr lang="tr-TR" smtClean="0"/>
              <a:t>1.06.2026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0E96-966A-4767-9A41-0B33EFC37FE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6670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B4D3-2163-4719-A622-B4FA80AD421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3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4E30-90A1-4AA2-9185-FDBC67727CD8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7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01BF-ABDD-4AF2-BB40-A27407734071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BE6D4-D6AF-4726-A9C3-F423F21C88A9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0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D34D-D8E3-475C-BD2A-3C47952FF234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0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CCF4-E217-402B-BA8C-33DD8CB0224A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9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C469B-456C-4EEB-A920-EE135CD1CD92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2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B48D-AA94-41C1-B777-1E726F73FC6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4911-A6E5-4A84-9EFB-A49CBA6F9DE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0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3D80-D753-4CDD-A37F-122A7C4E5816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1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227C9-5435-4A25-BCA8-A7650166233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1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D6D4-1441-476F-8DAB-AAA17FA31C7D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69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2953E-8EE8-4E7D-A9F5-FE12E33E622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22F76-6735-463B-ACBB-B6714DC3685E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63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C5FE9-CC23-4A09-A7B9-55CA70654D7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89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544-3FAC-4AF8-B1EE-6B12DA6711F5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86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DD4-6553-424B-A996-06BB3A9CA4DF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0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5B47A-42A1-468D-AE02-C8F0AB97CA56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100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74" y="4544008"/>
            <a:ext cx="12040178" cy="150581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tr-TR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233311060 </a:t>
            </a:r>
            <a:r>
              <a:rPr lang="tr-TR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Çağrı TEKİN</a:t>
            </a:r>
          </a:p>
          <a:p>
            <a:pPr algn="ctr">
              <a:lnSpc>
                <a:spcPct val="150000"/>
              </a:lnSpc>
            </a:pP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Bilgisayar</a:t>
            </a:r>
            <a:r>
              <a:rPr lang="en-GB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 </a:t>
            </a: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Mühendisliği</a:t>
            </a:r>
            <a:r>
              <a:rPr lang="en-GB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 </a:t>
            </a: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Uygulamaları</a:t>
            </a:r>
            <a:endParaRPr lang="tr-TR" sz="2400" b="1" dirty="0">
              <a:solidFill>
                <a:srgbClr val="000000"/>
              </a:solidFill>
              <a:effectLst/>
              <a:latin typeface="+mj-lt"/>
              <a:ea typeface="Cambria" panose="020405030504060302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it-IT" sz="2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Dr. Öğr. Üyesi Sema Servi</a:t>
            </a:r>
            <a:endParaRPr kumimoji="0" lang="tr-TR" sz="2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CDDD2B-7399-4306-BF49-56AC491FC3B2}"/>
              </a:ext>
            </a:extLst>
          </p:cNvPr>
          <p:cNvSpPr txBox="1">
            <a:spLocks/>
          </p:cNvSpPr>
          <p:nvPr/>
        </p:nvSpPr>
        <p:spPr>
          <a:xfrm>
            <a:off x="2427181" y="364451"/>
            <a:ext cx="7382763" cy="15170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T.C.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SELÇUK ÜNİVERSİTESİ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TEKNOLOJİ FAKÜLTESİ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BİLGİSAYAR MÜHENDİSLİĞİ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88712B-D550-44B0-80E9-9146ABE328A1}"/>
              </a:ext>
            </a:extLst>
          </p:cNvPr>
          <p:cNvSpPr txBox="1">
            <a:spLocks/>
          </p:cNvSpPr>
          <p:nvPr/>
        </p:nvSpPr>
        <p:spPr>
          <a:xfrm>
            <a:off x="0" y="2298205"/>
            <a:ext cx="12192000" cy="2138834"/>
          </a:xfrm>
          <a:prstGeom prst="rect">
            <a:avLst/>
          </a:prstGeo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solidFill>
                  <a:srgbClr val="000000"/>
                </a:solidFill>
                <a:effectLst/>
                <a:ea typeface="Cambria" panose="02040503050406030204" pitchFamily="18" charset="0"/>
              </a:rPr>
              <a:t>YAPAY ZEKA DESTEKLİ DÖVİZ TAKİP VE PORTFÖY YÖNETİM MOBİL UYGULAMASI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DC76F35-B5EA-4C2E-AC4E-248664791A81}"/>
              </a:ext>
            </a:extLst>
          </p:cNvPr>
          <p:cNvSpPr txBox="1"/>
          <p:nvPr/>
        </p:nvSpPr>
        <p:spPr>
          <a:xfrm>
            <a:off x="0" y="6522082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sz="1600" b="1" dirty="0">
                <a:solidFill>
                  <a:srgbClr val="00234A"/>
                </a:solidFill>
                <a:latin typeface="+mj-lt"/>
                <a:ea typeface="Cambria" panose="02040503050406030204" pitchFamily="18" charset="0"/>
              </a:rPr>
              <a:t>Konya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5A879AF-79D0-88E6-5C85-D5687D20A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7" y="499310"/>
            <a:ext cx="2658511" cy="134466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241E792-04AE-7944-42DD-D0B7C036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589020"/>
            <a:ext cx="3392062" cy="12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00FF"/>
                </a:solidFill>
                <a:effectLst/>
                <a:ea typeface="Cambria" panose="02040503050406030204" pitchFamily="18" charset="0"/>
              </a:rPr>
              <a:t> </a:t>
            </a:r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İçindekiler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2/11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E2852A2-90ED-A6B9-3EAC-22188FEA8CE0}"/>
              </a:ext>
            </a:extLst>
          </p:cNvPr>
          <p:cNvSpPr txBox="1"/>
          <p:nvPr/>
        </p:nvSpPr>
        <p:spPr>
          <a:xfrm>
            <a:off x="0" y="6537962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 Çağrı TEKİN	</a:t>
            </a:r>
          </a:p>
        </p:txBody>
      </p:sp>
      <p:sp>
        <p:nvSpPr>
          <p:cNvPr id="6" name="2 Metin kutusu">
            <a:extLst>
              <a:ext uri="{FF2B5EF4-FFF2-40B4-BE49-F238E27FC236}">
                <a16:creationId xmlns:a16="http://schemas.microsoft.com/office/drawing/2014/main" id="{80F00DF1-876F-F7B0-1690-64B2A01B1D6E}"/>
              </a:ext>
            </a:extLst>
          </p:cNvPr>
          <p:cNvSpPr txBox="1"/>
          <p:nvPr/>
        </p:nvSpPr>
        <p:spPr>
          <a:xfrm>
            <a:off x="629379" y="1716833"/>
            <a:ext cx="954098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man Old Style"/>
              </a:rPr>
              <a:t>Giriş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Kaynak </a:t>
            </a: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Araştırması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Materyal ve Yöntem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Araştırma Sonuçları ve Tartışma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 Sonuçlar ve Öneriler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 Kaynaklar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DB1413D-78E0-D4A2-1452-C510E9FAB454}"/>
              </a:ext>
            </a:extLst>
          </p:cNvPr>
          <p:cNvSpPr txBox="1"/>
          <p:nvPr/>
        </p:nvSpPr>
        <p:spPr>
          <a:xfrm>
            <a:off x="9314400" y="6537962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45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Giriş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3/11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1514168"/>
            <a:ext cx="8383016" cy="4514363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Problem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Türkiye'deki </a:t>
            </a:r>
            <a:r>
              <a:rPr lang="tr-TR" b="1" dirty="0">
                <a:solidFill>
                  <a:srgbClr val="00234A"/>
                </a:solidFill>
                <a:effectLst/>
                <a:latin typeface="Calibri"/>
              </a:rPr>
              <a:t>yastık altı ve bireysel 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yatırımcılar, döviz takibi ve portföy yönetiminde gerçek zamanlı yapay zeka destekli karar desteğine erişemiyor.</a:t>
            </a:r>
          </a:p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Motivasyon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TCMB döviz verileri ve EVDS makroekonomik serileri kamuya açık; ancak bu verileri birleştiren, AI destekli analiz sunan bir mobil platform mevcut değil.</a:t>
            </a:r>
          </a:p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Proje Amacı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/>
              </a:rPr>
              <a:t>Makroekonomik verileri gerçek zamanlı işleyerek otomatik haber ve portföy analizi üreten, düşük maliyetle çalışan yerel LLM destekli mobil uygulama geliştirmek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7F8F917-D225-4352-C791-1B423F23DF83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D548669-C7D2-09A0-7E9A-971E89FBCE9E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F9B0432E-AAC8-E606-AF8C-BA053AFE39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5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Kaynak Araştırması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800" dirty="0">
                <a:effectLst/>
                <a:latin typeface="Bookman Old Style"/>
                <a:ea typeface="Cambria" panose="02040503050406030204" pitchFamily="18" charset="0"/>
              </a:rPr>
              <a:t>4/11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1" y="1514168"/>
            <a:ext cx="8298714" cy="4317465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Büyük Dil Modelleri ve Finans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 err="1">
                <a:solidFill>
                  <a:srgbClr val="00234A"/>
                </a:solidFill>
                <a:effectLst/>
                <a:latin typeface="Calibri"/>
              </a:rPr>
              <a:t>BloombergGPT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 ve </a:t>
            </a:r>
            <a:r>
              <a:rPr lang="tr-TR" sz="2000" b="1" dirty="0" err="1">
                <a:solidFill>
                  <a:srgbClr val="00234A"/>
                </a:solidFill>
                <a:effectLst/>
                <a:latin typeface="Calibri"/>
              </a:rPr>
              <a:t>FinGPT</a:t>
            </a:r>
            <a:r>
              <a:rPr lang="tr-TR" b="1" dirty="0">
                <a:solidFill>
                  <a:srgbClr val="00234A"/>
                </a:solidFill>
                <a:effectLst/>
                <a:latin typeface="Calibri"/>
              </a:rPr>
              <a:t>: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 finans alanına özgü LLM'lerin genel amaçlı modellerden üstün performans gösterdiğini kanıtladı.</a:t>
            </a:r>
          </a:p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RAFT Yöntemi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Zhang vd. : </a:t>
            </a:r>
            <a:r>
              <a:rPr lang="tr-TR" sz="2000" b="1" dirty="0" err="1">
                <a:solidFill>
                  <a:srgbClr val="00234A"/>
                </a:solidFill>
                <a:effectLst/>
                <a:latin typeface="Calibri"/>
              </a:rPr>
              <a:t>Retrieval-Augmented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 Fine-Tuning ile LLM'ler domain-specific RAG görevlerinde düşük parametre ile yüksek doğruluk elde ediyor.</a:t>
            </a:r>
          </a:p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Döviz Kuru Modelleri</a:t>
            </a:r>
          </a:p>
          <a:p>
            <a:pPr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Meese &amp; </a:t>
            </a:r>
            <a:r>
              <a:rPr lang="tr-TR" sz="2000" b="1" dirty="0" err="1">
                <a:solidFill>
                  <a:srgbClr val="00234A"/>
                </a:solidFill>
                <a:effectLst/>
                <a:latin typeface="Calibri"/>
              </a:rPr>
              <a:t>Rogoff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  ve Taylor : makroekonomik göstergeler kur hareketlerini açıklamada anlamlı korelasyon sunmaktadır.</a:t>
            </a:r>
          </a:p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Platform Ekonomisi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tr-TR" sz="2000" b="1" dirty="0" err="1">
                <a:solidFill>
                  <a:srgbClr val="00234A"/>
                </a:solidFill>
                <a:effectLst/>
                <a:latin typeface="Calibri"/>
              </a:rPr>
              <a:t>Statista</a:t>
            </a:r>
            <a:r>
              <a:rPr lang="tr-TR" sz="2000" b="1" dirty="0">
                <a:solidFill>
                  <a:srgbClr val="00234A"/>
                </a:solidFill>
                <a:effectLst/>
                <a:latin typeface="Calibri"/>
              </a:rPr>
              <a:t>: küresel mobil bankacılık kullanıcısı 2028'de 2,5 milyarı aşması bekleniyor; yapay zeka destekli fintech'e talep artıyor.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1CD8B07-DA0C-9C2A-92C0-13CD151DB05C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E6792A0-487F-0BD4-F11F-66617969C68B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CAEB1160-7EEE-A82E-6B9A-11930C7FC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7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Materyal ve Yöntem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5/11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0" y="1514168"/>
            <a:ext cx="6739599" cy="4814914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Sistem Mimarisi — 4 Katman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 —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Expo; kurlar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ile akar,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SecureStore'da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kilitli.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—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JWT, rate-limit ve slot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limiter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ile korumalı.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— TCMB + EVDS +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NewsAPI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Qwen2.5-3B (risk) → Gemini 2.5 Flash (haber).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—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Supabase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PostgreSQL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16; RLS ile kullanıcı izolasyonu,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Realtime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ile anlık güncelleme.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2393BA5-A8B5-29C6-7EBC-546388990BB2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B528DED-BE07-D46B-132D-8BBB82876A39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1E12DA00-8674-17CD-F7F4-25BF95048CC4}"/>
              </a:ext>
            </a:extLst>
          </p:cNvPr>
          <p:cNvSpPr/>
          <p:nvPr/>
        </p:nvSpPr>
        <p:spPr>
          <a:xfrm>
            <a:off x="7236746" y="1412658"/>
            <a:ext cx="2152787" cy="99288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  <a:p>
            <a:pPr algn="ctr"/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</a:t>
            </a:r>
            <a:r>
              <a:rPr lang="en-US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F3A4ACBD-C1DA-456A-00A7-5EEEF3EC95FC}"/>
              </a:ext>
            </a:extLst>
          </p:cNvPr>
          <p:cNvSpPr/>
          <p:nvPr/>
        </p:nvSpPr>
        <p:spPr>
          <a:xfrm>
            <a:off x="7211659" y="2708693"/>
            <a:ext cx="2177873" cy="992888"/>
          </a:xfrm>
          <a:prstGeom prst="rect">
            <a:avLst/>
          </a:prstGeom>
          <a:solidFill>
            <a:srgbClr val="FEF9C3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  <a:p>
            <a:pPr algn="ctr"/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API :8080</a:t>
            </a:r>
            <a:endParaRPr lang="en-US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4334FA05-A50D-826D-473D-C4502839CE69}"/>
              </a:ext>
            </a:extLst>
          </p:cNvPr>
          <p:cNvSpPr/>
          <p:nvPr/>
        </p:nvSpPr>
        <p:spPr>
          <a:xfrm>
            <a:off x="7211660" y="4004728"/>
            <a:ext cx="2177872" cy="9928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  <a:p>
            <a:pPr algn="ctr"/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tr-TR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45304E96-18B8-8924-A47E-81E5CAB369FB}"/>
              </a:ext>
            </a:extLst>
          </p:cNvPr>
          <p:cNvSpPr/>
          <p:nvPr/>
        </p:nvSpPr>
        <p:spPr>
          <a:xfrm>
            <a:off x="7211660" y="5300763"/>
            <a:ext cx="2177872" cy="992888"/>
          </a:xfrm>
          <a:prstGeom prst="rect">
            <a:avLst/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 err="1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r>
              <a:rPr lang="en-US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dirty="0"/>
          </a:p>
          <a:p>
            <a:pPr algn="ctr"/>
            <a:r>
              <a:rPr lang="tr-TR" b="1" dirty="0">
                <a:solidFill>
                  <a:srgbClr val="00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Servisi</a:t>
            </a:r>
            <a:endParaRPr lang="en-US" dirty="0"/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D3551EB8-C8F8-E59D-E3A8-F3E654EA6419}"/>
              </a:ext>
            </a:extLst>
          </p:cNvPr>
          <p:cNvSpPr/>
          <p:nvPr/>
        </p:nvSpPr>
        <p:spPr>
          <a:xfrm>
            <a:off x="9880886" y="2945022"/>
            <a:ext cx="1690777" cy="52023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b="1" dirty="0" err="1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Supabase</a:t>
            </a:r>
            <a:r>
              <a:rPr lang="en-US" sz="15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RT + PostgreSQL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B7008718-C378-97A3-1293-2EF034342BFA}"/>
              </a:ext>
            </a:extLst>
          </p:cNvPr>
          <p:cNvSpPr/>
          <p:nvPr/>
        </p:nvSpPr>
        <p:spPr>
          <a:xfrm>
            <a:off x="9880886" y="5537092"/>
            <a:ext cx="1690777" cy="52023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TCMB / EVDS / </a:t>
            </a:r>
            <a:r>
              <a:rPr lang="en-US" sz="1500" b="1" dirty="0" err="1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NewsAPI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28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9E962-261D-0B59-4AA5-8F8084E6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9A0824C-87CB-C7A9-BE7F-A73FE18A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Materyal ve Yöntem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ACD64C-F478-331E-7E1A-16981CC506A9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6/11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FBB3CC67-A5DE-5472-6DD2-A676D512F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0" y="1514168"/>
            <a:ext cx="6363588" cy="4814914"/>
          </a:xfrm>
        </p:spPr>
        <p:txBody>
          <a:bodyPr>
            <a:norm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400" b="1" dirty="0">
                <a:solidFill>
                  <a:srgbClr val="FDCC14"/>
                </a:solidFill>
                <a:effectLst/>
                <a:latin typeface="Calibri"/>
              </a:rPr>
              <a:t>AI Bileşeni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Qwen2.5-3B, Türkçe makro verilerle RAFT yöntemiyle ince ayarlandı — piyasanın dilini anlayan yerel bir model ortaya çıktı.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Yerel model riski ve projeksiyon aralığını belirler; ardından Gemini bu ham çıktıyı okuyucu dostu bir habere dönüştürür.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Nihai AL/TUT/SAT kararı deterministik kurallara bağlıdır — halüsinasyon portföy kararlarına karışamaz.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71C8A3D-6E01-918B-BCB8-723F72BF07FF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EFA41E4-D3C7-5D55-E182-CC8BABE0B60F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6C5B79AE-9107-7955-CB88-66E324F1110D}"/>
              </a:ext>
            </a:extLst>
          </p:cNvPr>
          <p:cNvSpPr/>
          <p:nvPr/>
        </p:nvSpPr>
        <p:spPr>
          <a:xfrm>
            <a:off x="6852478" y="1514167"/>
            <a:ext cx="4948458" cy="468175"/>
          </a:xfrm>
          <a:prstGeom prst="rect">
            <a:avLst/>
          </a:prstGeom>
          <a:solidFill>
            <a:srgbClr val="00234A"/>
          </a:solidFill>
          <a:ln w="12700">
            <a:solidFill>
              <a:srgbClr val="00234A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66" name="Text 35">
            <a:extLst>
              <a:ext uri="{FF2B5EF4-FFF2-40B4-BE49-F238E27FC236}">
                <a16:creationId xmlns:a16="http://schemas.microsoft.com/office/drawing/2014/main" id="{6C37C444-0716-A923-5F01-3367E71A4117}"/>
              </a:ext>
            </a:extLst>
          </p:cNvPr>
          <p:cNvSpPr/>
          <p:nvPr/>
        </p:nvSpPr>
        <p:spPr>
          <a:xfrm>
            <a:off x="6852478" y="1514167"/>
            <a:ext cx="4948458" cy="46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CC14"/>
                </a:solidFill>
              </a:rPr>
              <a:t>Deterministik AL/TUT/SAT Kuralları</a:t>
            </a:r>
            <a:endParaRPr lang="en-US" sz="2000" dirty="0"/>
          </a:p>
        </p:txBody>
      </p:sp>
      <p:sp>
        <p:nvSpPr>
          <p:cNvPr id="67" name="Shape 36">
            <a:extLst>
              <a:ext uri="{FF2B5EF4-FFF2-40B4-BE49-F238E27FC236}">
                <a16:creationId xmlns:a16="http://schemas.microsoft.com/office/drawing/2014/main" id="{D410B69B-6C0D-1791-FC14-8B44D512D905}"/>
              </a:ext>
            </a:extLst>
          </p:cNvPr>
          <p:cNvSpPr/>
          <p:nvPr/>
        </p:nvSpPr>
        <p:spPr>
          <a:xfrm>
            <a:off x="6852478" y="1925647"/>
            <a:ext cx="4948458" cy="538401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68" name="Text 37">
            <a:extLst>
              <a:ext uri="{FF2B5EF4-FFF2-40B4-BE49-F238E27FC236}">
                <a16:creationId xmlns:a16="http://schemas.microsoft.com/office/drawing/2014/main" id="{7ECA1A30-95D5-C7AA-3B9B-32D93DF63850}"/>
              </a:ext>
            </a:extLst>
          </p:cNvPr>
          <p:cNvSpPr/>
          <p:nvPr/>
        </p:nvSpPr>
        <p:spPr>
          <a:xfrm>
            <a:off x="6943917" y="1962224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+ kâr ≥ %10</a:t>
            </a:r>
            <a:endParaRPr lang="en-US" sz="2000" dirty="0"/>
          </a:p>
        </p:txBody>
      </p:sp>
      <p:sp>
        <p:nvSpPr>
          <p:cNvPr id="69" name="Shape 38">
            <a:extLst>
              <a:ext uri="{FF2B5EF4-FFF2-40B4-BE49-F238E27FC236}">
                <a16:creationId xmlns:a16="http://schemas.microsoft.com/office/drawing/2014/main" id="{6CF2A9FF-3898-732F-6B34-02FE3B4294C3}"/>
              </a:ext>
            </a:extLst>
          </p:cNvPr>
          <p:cNvSpPr/>
          <p:nvPr/>
        </p:nvSpPr>
        <p:spPr>
          <a:xfrm>
            <a:off x="10541863" y="1972757"/>
            <a:ext cx="1150804" cy="3745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5B597609-1E46-1BA5-14FA-6A8C536C2CC4}"/>
              </a:ext>
            </a:extLst>
          </p:cNvPr>
          <p:cNvSpPr/>
          <p:nvPr/>
        </p:nvSpPr>
        <p:spPr>
          <a:xfrm>
            <a:off x="10541863" y="1972757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SAT</a:t>
            </a:r>
            <a:endParaRPr lang="en-US" sz="2000" dirty="0"/>
          </a:p>
        </p:txBody>
      </p:sp>
      <p:sp>
        <p:nvSpPr>
          <p:cNvPr id="71" name="Shape 40">
            <a:extLst>
              <a:ext uri="{FF2B5EF4-FFF2-40B4-BE49-F238E27FC236}">
                <a16:creationId xmlns:a16="http://schemas.microsoft.com/office/drawing/2014/main" id="{0B4B88C9-3166-5F41-F56C-B6BB4F8F7671}"/>
              </a:ext>
            </a:extLst>
          </p:cNvPr>
          <p:cNvSpPr/>
          <p:nvPr/>
        </p:nvSpPr>
        <p:spPr>
          <a:xfrm>
            <a:off x="6852478" y="2391991"/>
            <a:ext cx="4948458" cy="538401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72" name="Text 41">
            <a:extLst>
              <a:ext uri="{FF2B5EF4-FFF2-40B4-BE49-F238E27FC236}">
                <a16:creationId xmlns:a16="http://schemas.microsoft.com/office/drawing/2014/main" id="{8C944004-7054-B531-966A-12D6C5D65FF4}"/>
              </a:ext>
            </a:extLst>
          </p:cNvPr>
          <p:cNvSpPr/>
          <p:nvPr/>
        </p:nvSpPr>
        <p:spPr>
          <a:xfrm>
            <a:off x="6943917" y="2428568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+ kâr ≥ %0</a:t>
            </a:r>
            <a:endParaRPr lang="en-US" sz="2000" dirty="0"/>
          </a:p>
        </p:txBody>
      </p:sp>
      <p:sp>
        <p:nvSpPr>
          <p:cNvPr id="73" name="Shape 42">
            <a:extLst>
              <a:ext uri="{FF2B5EF4-FFF2-40B4-BE49-F238E27FC236}">
                <a16:creationId xmlns:a16="http://schemas.microsoft.com/office/drawing/2014/main" id="{9F347367-94EE-0F02-D663-BDC67572EACE}"/>
              </a:ext>
            </a:extLst>
          </p:cNvPr>
          <p:cNvSpPr/>
          <p:nvPr/>
        </p:nvSpPr>
        <p:spPr>
          <a:xfrm>
            <a:off x="10541863" y="2439101"/>
            <a:ext cx="1150804" cy="374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74" name="Text 43">
            <a:extLst>
              <a:ext uri="{FF2B5EF4-FFF2-40B4-BE49-F238E27FC236}">
                <a16:creationId xmlns:a16="http://schemas.microsoft.com/office/drawing/2014/main" id="{EAC290A5-0E95-47B8-7E30-C1D770E2126A}"/>
              </a:ext>
            </a:extLst>
          </p:cNvPr>
          <p:cNvSpPr/>
          <p:nvPr/>
        </p:nvSpPr>
        <p:spPr>
          <a:xfrm>
            <a:off x="10541863" y="2439101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TUT</a:t>
            </a:r>
            <a:endParaRPr lang="en-US" sz="2000" dirty="0"/>
          </a:p>
        </p:txBody>
      </p:sp>
      <p:sp>
        <p:nvSpPr>
          <p:cNvPr id="75" name="Shape 44">
            <a:extLst>
              <a:ext uri="{FF2B5EF4-FFF2-40B4-BE49-F238E27FC236}">
                <a16:creationId xmlns:a16="http://schemas.microsoft.com/office/drawing/2014/main" id="{54BD692F-938C-8B4C-E088-2FDD9392A400}"/>
              </a:ext>
            </a:extLst>
          </p:cNvPr>
          <p:cNvSpPr/>
          <p:nvPr/>
        </p:nvSpPr>
        <p:spPr>
          <a:xfrm>
            <a:off x="6852478" y="2858335"/>
            <a:ext cx="4948458" cy="538401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76" name="Text 45">
            <a:extLst>
              <a:ext uri="{FF2B5EF4-FFF2-40B4-BE49-F238E27FC236}">
                <a16:creationId xmlns:a16="http://schemas.microsoft.com/office/drawing/2014/main" id="{BE052BC5-21D1-7F5E-F66A-87BCB535DCF7}"/>
              </a:ext>
            </a:extLst>
          </p:cNvPr>
          <p:cNvSpPr/>
          <p:nvPr/>
        </p:nvSpPr>
        <p:spPr>
          <a:xfrm>
            <a:off x="6943917" y="2894912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+ zarar</a:t>
            </a:r>
            <a:endParaRPr lang="en-US" sz="2000" dirty="0"/>
          </a:p>
        </p:txBody>
      </p:sp>
      <p:sp>
        <p:nvSpPr>
          <p:cNvPr id="77" name="Shape 46">
            <a:extLst>
              <a:ext uri="{FF2B5EF4-FFF2-40B4-BE49-F238E27FC236}">
                <a16:creationId xmlns:a16="http://schemas.microsoft.com/office/drawing/2014/main" id="{79986C32-D87E-7136-A9E5-B847CB2A3E8F}"/>
              </a:ext>
            </a:extLst>
          </p:cNvPr>
          <p:cNvSpPr/>
          <p:nvPr/>
        </p:nvSpPr>
        <p:spPr>
          <a:xfrm>
            <a:off x="10541863" y="2905445"/>
            <a:ext cx="1150804" cy="374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78" name="Text 47">
            <a:extLst>
              <a:ext uri="{FF2B5EF4-FFF2-40B4-BE49-F238E27FC236}">
                <a16:creationId xmlns:a16="http://schemas.microsoft.com/office/drawing/2014/main" id="{F201C6A8-0503-85C8-B9EA-9E5C5537ED08}"/>
              </a:ext>
            </a:extLst>
          </p:cNvPr>
          <p:cNvSpPr/>
          <p:nvPr/>
        </p:nvSpPr>
        <p:spPr>
          <a:xfrm>
            <a:off x="10541863" y="2905445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TUT</a:t>
            </a:r>
            <a:endParaRPr lang="en-US" sz="2000" dirty="0"/>
          </a:p>
        </p:txBody>
      </p:sp>
      <p:sp>
        <p:nvSpPr>
          <p:cNvPr id="79" name="Shape 48">
            <a:extLst>
              <a:ext uri="{FF2B5EF4-FFF2-40B4-BE49-F238E27FC236}">
                <a16:creationId xmlns:a16="http://schemas.microsoft.com/office/drawing/2014/main" id="{6F2328C3-C274-D298-4F13-C8E3E2273DFD}"/>
              </a:ext>
            </a:extLst>
          </p:cNvPr>
          <p:cNvSpPr/>
          <p:nvPr/>
        </p:nvSpPr>
        <p:spPr>
          <a:xfrm>
            <a:off x="6852478" y="3324679"/>
            <a:ext cx="4948458" cy="538401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80" name="Text 49">
            <a:extLst>
              <a:ext uri="{FF2B5EF4-FFF2-40B4-BE49-F238E27FC236}">
                <a16:creationId xmlns:a16="http://schemas.microsoft.com/office/drawing/2014/main" id="{A42C2173-E98C-B5E7-B43F-23A209D21382}"/>
              </a:ext>
            </a:extLst>
          </p:cNvPr>
          <p:cNvSpPr/>
          <p:nvPr/>
        </p:nvSpPr>
        <p:spPr>
          <a:xfrm>
            <a:off x="6943917" y="3361256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 + zarar ≥ %5</a:t>
            </a:r>
            <a:endParaRPr lang="en-US" sz="2000" dirty="0"/>
          </a:p>
        </p:txBody>
      </p:sp>
      <p:sp>
        <p:nvSpPr>
          <p:cNvPr id="81" name="Shape 50">
            <a:extLst>
              <a:ext uri="{FF2B5EF4-FFF2-40B4-BE49-F238E27FC236}">
                <a16:creationId xmlns:a16="http://schemas.microsoft.com/office/drawing/2014/main" id="{08B93D86-00A0-F4E4-D69A-4714CE34CB00}"/>
              </a:ext>
            </a:extLst>
          </p:cNvPr>
          <p:cNvSpPr/>
          <p:nvPr/>
        </p:nvSpPr>
        <p:spPr>
          <a:xfrm>
            <a:off x="10541863" y="3371789"/>
            <a:ext cx="1150804" cy="3745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82" name="Text 51">
            <a:extLst>
              <a:ext uri="{FF2B5EF4-FFF2-40B4-BE49-F238E27FC236}">
                <a16:creationId xmlns:a16="http://schemas.microsoft.com/office/drawing/2014/main" id="{01878B0B-0D95-B08E-4EFD-B3A57E60D18E}"/>
              </a:ext>
            </a:extLst>
          </p:cNvPr>
          <p:cNvSpPr/>
          <p:nvPr/>
        </p:nvSpPr>
        <p:spPr>
          <a:xfrm>
            <a:off x="10541863" y="3371789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AL</a:t>
            </a:r>
            <a:endParaRPr lang="en-US" sz="2000" dirty="0"/>
          </a:p>
        </p:txBody>
      </p:sp>
      <p:sp>
        <p:nvSpPr>
          <p:cNvPr id="83" name="Shape 52">
            <a:extLst>
              <a:ext uri="{FF2B5EF4-FFF2-40B4-BE49-F238E27FC236}">
                <a16:creationId xmlns:a16="http://schemas.microsoft.com/office/drawing/2014/main" id="{809FF521-5CE7-5627-1EF4-F53527ADE17D}"/>
              </a:ext>
            </a:extLst>
          </p:cNvPr>
          <p:cNvSpPr/>
          <p:nvPr/>
        </p:nvSpPr>
        <p:spPr>
          <a:xfrm>
            <a:off x="6852478" y="3791023"/>
            <a:ext cx="4948458" cy="538401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84" name="Text 53">
            <a:extLst>
              <a:ext uri="{FF2B5EF4-FFF2-40B4-BE49-F238E27FC236}">
                <a16:creationId xmlns:a16="http://schemas.microsoft.com/office/drawing/2014/main" id="{796F9406-7D16-88A8-A1D1-683046C0C50F}"/>
              </a:ext>
            </a:extLst>
          </p:cNvPr>
          <p:cNvSpPr/>
          <p:nvPr/>
        </p:nvSpPr>
        <p:spPr>
          <a:xfrm>
            <a:off x="6943917" y="3827600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 + kâr ≥ %15</a:t>
            </a:r>
            <a:endParaRPr lang="en-US" sz="2000" dirty="0"/>
          </a:p>
        </p:txBody>
      </p:sp>
      <p:sp>
        <p:nvSpPr>
          <p:cNvPr id="85" name="Shape 54">
            <a:extLst>
              <a:ext uri="{FF2B5EF4-FFF2-40B4-BE49-F238E27FC236}">
                <a16:creationId xmlns:a16="http://schemas.microsoft.com/office/drawing/2014/main" id="{1262D203-C718-02D3-4963-5E8094DE853B}"/>
              </a:ext>
            </a:extLst>
          </p:cNvPr>
          <p:cNvSpPr/>
          <p:nvPr/>
        </p:nvSpPr>
        <p:spPr>
          <a:xfrm>
            <a:off x="10541863" y="3838133"/>
            <a:ext cx="1150804" cy="3745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86" name="Text 55">
            <a:extLst>
              <a:ext uri="{FF2B5EF4-FFF2-40B4-BE49-F238E27FC236}">
                <a16:creationId xmlns:a16="http://schemas.microsoft.com/office/drawing/2014/main" id="{72DEC5D3-3828-88F1-B38D-058A115F4840}"/>
              </a:ext>
            </a:extLst>
          </p:cNvPr>
          <p:cNvSpPr/>
          <p:nvPr/>
        </p:nvSpPr>
        <p:spPr>
          <a:xfrm>
            <a:off x="10541863" y="3838133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SAT</a:t>
            </a:r>
            <a:endParaRPr lang="en-US" sz="2000" dirty="0"/>
          </a:p>
        </p:txBody>
      </p:sp>
      <p:sp>
        <p:nvSpPr>
          <p:cNvPr id="87" name="Shape 56">
            <a:extLst>
              <a:ext uri="{FF2B5EF4-FFF2-40B4-BE49-F238E27FC236}">
                <a16:creationId xmlns:a16="http://schemas.microsoft.com/office/drawing/2014/main" id="{A67535E8-3353-CD97-A4D4-D37FD766AAD6}"/>
              </a:ext>
            </a:extLst>
          </p:cNvPr>
          <p:cNvSpPr/>
          <p:nvPr/>
        </p:nvSpPr>
        <p:spPr>
          <a:xfrm>
            <a:off x="6852478" y="4257367"/>
            <a:ext cx="4948458" cy="538401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88" name="Text 57">
            <a:extLst>
              <a:ext uri="{FF2B5EF4-FFF2-40B4-BE49-F238E27FC236}">
                <a16:creationId xmlns:a16="http://schemas.microsoft.com/office/drawing/2014/main" id="{BC99515A-C972-A6FD-B5B1-87126AFE69AB}"/>
              </a:ext>
            </a:extLst>
          </p:cNvPr>
          <p:cNvSpPr/>
          <p:nvPr/>
        </p:nvSpPr>
        <p:spPr>
          <a:xfrm>
            <a:off x="6943917" y="4293944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 + kâr ≥ %20</a:t>
            </a:r>
            <a:endParaRPr lang="en-US" sz="2000" dirty="0"/>
          </a:p>
        </p:txBody>
      </p:sp>
      <p:sp>
        <p:nvSpPr>
          <p:cNvPr id="89" name="Shape 58">
            <a:extLst>
              <a:ext uri="{FF2B5EF4-FFF2-40B4-BE49-F238E27FC236}">
                <a16:creationId xmlns:a16="http://schemas.microsoft.com/office/drawing/2014/main" id="{B2034EBB-2387-F268-4485-9484C9495DF2}"/>
              </a:ext>
            </a:extLst>
          </p:cNvPr>
          <p:cNvSpPr/>
          <p:nvPr/>
        </p:nvSpPr>
        <p:spPr>
          <a:xfrm>
            <a:off x="10541863" y="4304477"/>
            <a:ext cx="1150804" cy="3745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90" name="Text 59">
            <a:extLst>
              <a:ext uri="{FF2B5EF4-FFF2-40B4-BE49-F238E27FC236}">
                <a16:creationId xmlns:a16="http://schemas.microsoft.com/office/drawing/2014/main" id="{D6FB5FDE-30FF-4571-DBC4-2E31CEAA7248}"/>
              </a:ext>
            </a:extLst>
          </p:cNvPr>
          <p:cNvSpPr/>
          <p:nvPr/>
        </p:nvSpPr>
        <p:spPr>
          <a:xfrm>
            <a:off x="10541863" y="4304477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SAT</a:t>
            </a:r>
            <a:endParaRPr lang="en-US" sz="2000" dirty="0"/>
          </a:p>
        </p:txBody>
      </p:sp>
      <p:sp>
        <p:nvSpPr>
          <p:cNvPr id="91" name="Shape 60">
            <a:extLst>
              <a:ext uri="{FF2B5EF4-FFF2-40B4-BE49-F238E27FC236}">
                <a16:creationId xmlns:a16="http://schemas.microsoft.com/office/drawing/2014/main" id="{F8026A3B-0890-443B-C863-CAE6F6901B3B}"/>
              </a:ext>
            </a:extLst>
          </p:cNvPr>
          <p:cNvSpPr/>
          <p:nvPr/>
        </p:nvSpPr>
        <p:spPr>
          <a:xfrm>
            <a:off x="6852478" y="4723711"/>
            <a:ext cx="4948458" cy="538401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92" name="Text 61">
            <a:extLst>
              <a:ext uri="{FF2B5EF4-FFF2-40B4-BE49-F238E27FC236}">
                <a16:creationId xmlns:a16="http://schemas.microsoft.com/office/drawing/2014/main" id="{14BD9420-9D15-1A31-6B98-ECA7D7A6F1DF}"/>
              </a:ext>
            </a:extLst>
          </p:cNvPr>
          <p:cNvSpPr/>
          <p:nvPr/>
        </p:nvSpPr>
        <p:spPr>
          <a:xfrm>
            <a:off x="6943917" y="4760288"/>
            <a:ext cx="3452413" cy="444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 + diğer</a:t>
            </a:r>
            <a:endParaRPr lang="en-US" sz="2000" dirty="0"/>
          </a:p>
        </p:txBody>
      </p:sp>
      <p:sp>
        <p:nvSpPr>
          <p:cNvPr id="93" name="Shape 62">
            <a:extLst>
              <a:ext uri="{FF2B5EF4-FFF2-40B4-BE49-F238E27FC236}">
                <a16:creationId xmlns:a16="http://schemas.microsoft.com/office/drawing/2014/main" id="{A9CB3D33-BB27-F35F-1B3B-20BCEC10FAFB}"/>
              </a:ext>
            </a:extLst>
          </p:cNvPr>
          <p:cNvSpPr/>
          <p:nvPr/>
        </p:nvSpPr>
        <p:spPr>
          <a:xfrm>
            <a:off x="10541863" y="4770821"/>
            <a:ext cx="1150804" cy="374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94" name="Text 63">
            <a:extLst>
              <a:ext uri="{FF2B5EF4-FFF2-40B4-BE49-F238E27FC236}">
                <a16:creationId xmlns:a16="http://schemas.microsoft.com/office/drawing/2014/main" id="{20F87CEE-5629-4DD9-715E-D99B5A4433C6}"/>
              </a:ext>
            </a:extLst>
          </p:cNvPr>
          <p:cNvSpPr/>
          <p:nvPr/>
        </p:nvSpPr>
        <p:spPr>
          <a:xfrm>
            <a:off x="10541863" y="4770821"/>
            <a:ext cx="1150804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TUT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4561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592A1-749E-202D-4DF7-0EA5A067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1B8D077-CC9D-7E27-EF96-D57F0E35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Materyal ve Yöntem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B0761C-9E51-C707-27AD-2B72C438A1E3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7/11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2ECDA4F2-A01A-3AE1-DDA0-851FFAA34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59" y="1514168"/>
            <a:ext cx="6549051" cy="4814914"/>
          </a:xfrm>
        </p:spPr>
        <p:txBody>
          <a:bodyPr>
            <a:no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Teknoloji Seçimi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Eş zamanlı bağlantı yönetimi ve düşük bellek tüketimi finans uygulamalarının temel ihtiyacıdır —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goroutine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 bu yükü kolayca kaldırır.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Expo sayesinde iOS ve Android için ayrı ekip gerekmez;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ise çalışma zamanı hatalarını derleme aşamasında yakalar.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Yerel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Qwen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maliyetsiz ve gizli verilerle çalışırken, Gemini yalnızca dil zenginleştirmede devreye girer — ne tam bulut bağımlılığı ne de tam yerel kısıt.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Supabase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veritabanı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kimlik doğrulama ve gerçek zamanlı yayını tek çatı altında sunar — operasyonel karmaşıklık minimumda tutulur.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607ABBC-6FDF-EB39-D22D-6B3B956D20BD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BFCA3EC-4E6F-DFD8-850F-8D29D32BA7F1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Shape hdr20">
            <a:extLst>
              <a:ext uri="{FF2B5EF4-FFF2-40B4-BE49-F238E27FC236}">
                <a16:creationId xmlns:a16="http://schemas.microsoft.com/office/drawing/2014/main" id="{C7F9FA27-F975-6472-3712-8DD4947FEB89}"/>
              </a:ext>
            </a:extLst>
          </p:cNvPr>
          <p:cNvSpPr/>
          <p:nvPr/>
        </p:nvSpPr>
        <p:spPr>
          <a:xfrm>
            <a:off x="7101111" y="1228914"/>
            <a:ext cx="2150000" cy="300000"/>
          </a:xfrm>
          <a:prstGeom prst="rect">
            <a:avLst/>
          </a:prstGeom>
          <a:solidFill>
            <a:srgbClr val="00234A"/>
          </a:solidFill>
          <a:ln w="1270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DCC14"/>
                </a:solidFill>
                <a:latin typeface="Calibri" pitchFamily="34" charset="0"/>
              </a:rPr>
              <a:t>BACKEND</a:t>
            </a:r>
          </a:p>
        </p:txBody>
      </p:sp>
      <p:sp>
        <p:nvSpPr>
          <p:cNvPr id="8" name="Text outlined21">
            <a:extLst>
              <a:ext uri="{FF2B5EF4-FFF2-40B4-BE49-F238E27FC236}">
                <a16:creationId xmlns:a16="http://schemas.microsoft.com/office/drawing/2014/main" id="{170C6457-D562-2AB1-17E8-09476569CBA7}"/>
              </a:ext>
            </a:extLst>
          </p:cNvPr>
          <p:cNvSpPr/>
          <p:nvPr/>
        </p:nvSpPr>
        <p:spPr>
          <a:xfrm>
            <a:off x="7101111" y="153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Go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v1.24.0 · Ana API sunucusu</a:t>
            </a:r>
          </a:p>
        </p:txBody>
      </p:sp>
      <p:sp>
        <p:nvSpPr>
          <p:cNvPr id="9" name="Text outlined22">
            <a:extLst>
              <a:ext uri="{FF2B5EF4-FFF2-40B4-BE49-F238E27FC236}">
                <a16:creationId xmlns:a16="http://schemas.microsoft.com/office/drawing/2014/main" id="{CA53AB55-F4D8-CC04-8260-1E36B148FBA3}"/>
              </a:ext>
            </a:extLst>
          </p:cNvPr>
          <p:cNvSpPr/>
          <p:nvPr/>
        </p:nvSpPr>
        <p:spPr>
          <a:xfrm>
            <a:off x="7101111" y="2033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Gin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vv1.10.0 · HTTP framework</a:t>
            </a:r>
          </a:p>
        </p:txBody>
      </p:sp>
      <p:sp>
        <p:nvSpPr>
          <p:cNvPr id="10" name="Text outlined23">
            <a:extLst>
              <a:ext uri="{FF2B5EF4-FFF2-40B4-BE49-F238E27FC236}">
                <a16:creationId xmlns:a16="http://schemas.microsoft.com/office/drawing/2014/main" id="{A0B403E5-9EB4-A05A-E2B0-20511605E9A2}"/>
              </a:ext>
            </a:extLst>
          </p:cNvPr>
          <p:cNvSpPr/>
          <p:nvPr/>
        </p:nvSpPr>
        <p:spPr>
          <a:xfrm>
            <a:off x="7101111" y="252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pgx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vv5.8.0 · PostgreSQL client</a:t>
            </a:r>
          </a:p>
        </p:txBody>
      </p:sp>
      <p:sp>
        <p:nvSpPr>
          <p:cNvPr id="11" name="Text outlined24">
            <a:extLst>
              <a:ext uri="{FF2B5EF4-FFF2-40B4-BE49-F238E27FC236}">
                <a16:creationId xmlns:a16="http://schemas.microsoft.com/office/drawing/2014/main" id="{D6634879-76A2-B6DF-066E-2DD938079FEE}"/>
              </a:ext>
            </a:extLst>
          </p:cNvPr>
          <p:cNvSpPr/>
          <p:nvPr/>
        </p:nvSpPr>
        <p:spPr>
          <a:xfrm>
            <a:off x="7101111" y="3023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golang-jwt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vv5.2.2 · JWT doğrulama</a:t>
            </a:r>
          </a:p>
        </p:txBody>
      </p:sp>
      <p:sp>
        <p:nvSpPr>
          <p:cNvPr id="12" name="Text outlined25">
            <a:extLst>
              <a:ext uri="{FF2B5EF4-FFF2-40B4-BE49-F238E27FC236}">
                <a16:creationId xmlns:a16="http://schemas.microsoft.com/office/drawing/2014/main" id="{DAD3F5F0-9531-9CA9-70D9-AB7C9C63C400}"/>
              </a:ext>
            </a:extLst>
          </p:cNvPr>
          <p:cNvSpPr/>
          <p:nvPr/>
        </p:nvSpPr>
        <p:spPr>
          <a:xfrm>
            <a:off x="7101111" y="351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gorilla/ws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vv1.5.3 · WebSocket hub</a:t>
            </a:r>
          </a:p>
        </p:txBody>
      </p:sp>
      <p:sp>
        <p:nvSpPr>
          <p:cNvPr id="13" name="Shape hdr40">
            <a:extLst>
              <a:ext uri="{FF2B5EF4-FFF2-40B4-BE49-F238E27FC236}">
                <a16:creationId xmlns:a16="http://schemas.microsoft.com/office/drawing/2014/main" id="{E7EA59AC-A08D-A7F5-26EF-8196F621090D}"/>
              </a:ext>
            </a:extLst>
          </p:cNvPr>
          <p:cNvSpPr/>
          <p:nvPr/>
        </p:nvSpPr>
        <p:spPr>
          <a:xfrm>
            <a:off x="9331111" y="1228914"/>
            <a:ext cx="2150000" cy="300000"/>
          </a:xfrm>
          <a:prstGeom prst="rect">
            <a:avLst/>
          </a:prstGeom>
          <a:solidFill>
            <a:srgbClr val="00234A"/>
          </a:solidFill>
          <a:ln w="1270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DCC14"/>
                </a:solidFill>
                <a:latin typeface="Calibri" pitchFamily="34" charset="0"/>
              </a:rPr>
              <a:t>FRONTEND</a:t>
            </a:r>
          </a:p>
        </p:txBody>
      </p:sp>
      <p:sp>
        <p:nvSpPr>
          <p:cNvPr id="14" name="Text outlined41">
            <a:extLst>
              <a:ext uri="{FF2B5EF4-FFF2-40B4-BE49-F238E27FC236}">
                <a16:creationId xmlns:a16="http://schemas.microsoft.com/office/drawing/2014/main" id="{9E6081FD-8B92-D0FA-4F22-85D862E09801}"/>
              </a:ext>
            </a:extLst>
          </p:cNvPr>
          <p:cNvSpPr/>
          <p:nvPr/>
        </p:nvSpPr>
        <p:spPr>
          <a:xfrm>
            <a:off x="9331111" y="153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3A5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React Native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v0.81.5 · Mobil framework</a:t>
            </a:r>
          </a:p>
        </p:txBody>
      </p:sp>
      <p:sp>
        <p:nvSpPr>
          <p:cNvPr id="15" name="Text outlined42">
            <a:extLst>
              <a:ext uri="{FF2B5EF4-FFF2-40B4-BE49-F238E27FC236}">
                <a16:creationId xmlns:a16="http://schemas.microsoft.com/office/drawing/2014/main" id="{06442B27-2A53-0E6A-6860-B4E96CB19ABE}"/>
              </a:ext>
            </a:extLst>
          </p:cNvPr>
          <p:cNvSpPr/>
          <p:nvPr/>
        </p:nvSpPr>
        <p:spPr>
          <a:xfrm>
            <a:off x="9331111" y="2033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3A5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Expo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v~54.0 · Build toolchain</a:t>
            </a:r>
          </a:p>
        </p:txBody>
      </p:sp>
      <p:sp>
        <p:nvSpPr>
          <p:cNvPr id="16" name="Text outlined43">
            <a:extLst>
              <a:ext uri="{FF2B5EF4-FFF2-40B4-BE49-F238E27FC236}">
                <a16:creationId xmlns:a16="http://schemas.microsoft.com/office/drawing/2014/main" id="{58804E83-E816-D08B-181C-C9639EB3769D}"/>
              </a:ext>
            </a:extLst>
          </p:cNvPr>
          <p:cNvSpPr/>
          <p:nvPr/>
        </p:nvSpPr>
        <p:spPr>
          <a:xfrm>
            <a:off x="9331111" y="252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3A5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TypeScript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v~5.9.2 · Tip güvenliği</a:t>
            </a:r>
          </a:p>
        </p:txBody>
      </p:sp>
      <p:sp>
        <p:nvSpPr>
          <p:cNvPr id="17" name="Text outlined44">
            <a:extLst>
              <a:ext uri="{FF2B5EF4-FFF2-40B4-BE49-F238E27FC236}">
                <a16:creationId xmlns:a16="http://schemas.microsoft.com/office/drawing/2014/main" id="{D31458D7-27A8-2A3F-88EE-CA9B7FC8BB7B}"/>
              </a:ext>
            </a:extLst>
          </p:cNvPr>
          <p:cNvSpPr/>
          <p:nvPr/>
        </p:nvSpPr>
        <p:spPr>
          <a:xfrm>
            <a:off x="9331111" y="3023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3A5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TanStack Query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v^5.99 · Sunucu state</a:t>
            </a:r>
          </a:p>
        </p:txBody>
      </p:sp>
      <p:sp>
        <p:nvSpPr>
          <p:cNvPr id="18" name="Text outlined45">
            <a:extLst>
              <a:ext uri="{FF2B5EF4-FFF2-40B4-BE49-F238E27FC236}">
                <a16:creationId xmlns:a16="http://schemas.microsoft.com/office/drawing/2014/main" id="{E6850044-F5B6-7EB9-048E-C0BF9CD9E5D1}"/>
              </a:ext>
            </a:extLst>
          </p:cNvPr>
          <p:cNvSpPr/>
          <p:nvPr/>
        </p:nvSpPr>
        <p:spPr>
          <a:xfrm>
            <a:off x="9331111" y="3518914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3A5C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Zustand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v^5.0.12 · Global state</a:t>
            </a:r>
          </a:p>
        </p:txBody>
      </p:sp>
      <p:sp>
        <p:nvSpPr>
          <p:cNvPr id="19" name="Shape hdr60">
            <a:extLst>
              <a:ext uri="{FF2B5EF4-FFF2-40B4-BE49-F238E27FC236}">
                <a16:creationId xmlns:a16="http://schemas.microsoft.com/office/drawing/2014/main" id="{0244209A-177E-E2F7-9903-32F8D25DC657}"/>
              </a:ext>
            </a:extLst>
          </p:cNvPr>
          <p:cNvSpPr/>
          <p:nvPr/>
        </p:nvSpPr>
        <p:spPr>
          <a:xfrm>
            <a:off x="7101111" y="4095899"/>
            <a:ext cx="2150000" cy="300000"/>
          </a:xfrm>
          <a:prstGeom prst="rect">
            <a:avLst/>
          </a:prstGeom>
          <a:solidFill>
            <a:srgbClr val="00234A"/>
          </a:solidFill>
          <a:ln w="1270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DCC14"/>
                </a:solidFill>
                <a:latin typeface="Calibri" pitchFamily="34" charset="0"/>
              </a:rPr>
              <a:t>AI / ML</a:t>
            </a:r>
          </a:p>
        </p:txBody>
      </p:sp>
      <p:sp>
        <p:nvSpPr>
          <p:cNvPr id="20" name="Text outlined61">
            <a:extLst>
              <a:ext uri="{FF2B5EF4-FFF2-40B4-BE49-F238E27FC236}">
                <a16:creationId xmlns:a16="http://schemas.microsoft.com/office/drawing/2014/main" id="{818DFD55-0E0B-7C67-1AA9-A96A8893C828}"/>
              </a:ext>
            </a:extLst>
          </p:cNvPr>
          <p:cNvSpPr/>
          <p:nvPr/>
        </p:nvSpPr>
        <p:spPr>
          <a:xfrm>
            <a:off x="7101111" y="4405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A508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Qwen2.5-3B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GGUF lokal model</a:t>
            </a:r>
          </a:p>
        </p:txBody>
      </p:sp>
      <p:sp>
        <p:nvSpPr>
          <p:cNvPr id="21" name="Text outlined62">
            <a:extLst>
              <a:ext uri="{FF2B5EF4-FFF2-40B4-BE49-F238E27FC236}">
                <a16:creationId xmlns:a16="http://schemas.microsoft.com/office/drawing/2014/main" id="{4B68DED0-B1CB-2E13-A9DE-3C28A8F8E945}"/>
              </a:ext>
            </a:extLst>
          </p:cNvPr>
          <p:cNvSpPr/>
          <p:nvPr/>
        </p:nvSpPr>
        <p:spPr>
          <a:xfrm>
            <a:off x="7101111" y="4900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A508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LoRA Adapter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v115 MB · RAFT fine-tune</a:t>
            </a:r>
          </a:p>
        </p:txBody>
      </p:sp>
      <p:sp>
        <p:nvSpPr>
          <p:cNvPr id="22" name="Text outlined63">
            <a:extLst>
              <a:ext uri="{FF2B5EF4-FFF2-40B4-BE49-F238E27FC236}">
                <a16:creationId xmlns:a16="http://schemas.microsoft.com/office/drawing/2014/main" id="{6971AA97-BB09-1916-6B1E-33AE7E51901A}"/>
              </a:ext>
            </a:extLst>
          </p:cNvPr>
          <p:cNvSpPr/>
          <p:nvPr/>
        </p:nvSpPr>
        <p:spPr>
          <a:xfrm>
            <a:off x="7101111" y="5395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A508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Ollama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vlatest · LLM inference</a:t>
            </a:r>
          </a:p>
        </p:txBody>
      </p:sp>
      <p:sp>
        <p:nvSpPr>
          <p:cNvPr id="23" name="Text outlined64">
            <a:extLst>
              <a:ext uri="{FF2B5EF4-FFF2-40B4-BE49-F238E27FC236}">
                <a16:creationId xmlns:a16="http://schemas.microsoft.com/office/drawing/2014/main" id="{7E7C54CC-56AC-EED8-83C6-A9DCE67D74C9}"/>
              </a:ext>
            </a:extLst>
          </p:cNvPr>
          <p:cNvSpPr/>
          <p:nvPr/>
        </p:nvSpPr>
        <p:spPr>
          <a:xfrm>
            <a:off x="7101111" y="5890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A508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Gemini 2.5 Flash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vAPI · Haber zenginleştir</a:t>
            </a:r>
          </a:p>
        </p:txBody>
      </p:sp>
      <p:sp>
        <p:nvSpPr>
          <p:cNvPr id="25" name="Shape hdr80">
            <a:extLst>
              <a:ext uri="{FF2B5EF4-FFF2-40B4-BE49-F238E27FC236}">
                <a16:creationId xmlns:a16="http://schemas.microsoft.com/office/drawing/2014/main" id="{E79D59DC-676A-9A08-77DB-5791B052B3D7}"/>
              </a:ext>
            </a:extLst>
          </p:cNvPr>
          <p:cNvSpPr/>
          <p:nvPr/>
        </p:nvSpPr>
        <p:spPr>
          <a:xfrm>
            <a:off x="9331111" y="4108089"/>
            <a:ext cx="2150000" cy="300000"/>
          </a:xfrm>
          <a:prstGeom prst="rect">
            <a:avLst/>
          </a:prstGeom>
          <a:solidFill>
            <a:srgbClr val="00234A"/>
          </a:solidFill>
          <a:ln w="1270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DCC14"/>
                </a:solidFill>
                <a:latin typeface="Calibri" pitchFamily="34" charset="0"/>
              </a:rPr>
              <a:t>ALTYAPI</a:t>
            </a:r>
          </a:p>
        </p:txBody>
      </p:sp>
      <p:sp>
        <p:nvSpPr>
          <p:cNvPr id="26" name="Text outlined81">
            <a:extLst>
              <a:ext uri="{FF2B5EF4-FFF2-40B4-BE49-F238E27FC236}">
                <a16:creationId xmlns:a16="http://schemas.microsoft.com/office/drawing/2014/main" id="{AE1961E4-FF26-80D4-6F72-3B2A808CF65D}"/>
              </a:ext>
            </a:extLst>
          </p:cNvPr>
          <p:cNvSpPr/>
          <p:nvPr/>
        </p:nvSpPr>
        <p:spPr>
          <a:xfrm>
            <a:off x="9331111" y="441808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Supabase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DB + Realtime + Auth</a:t>
            </a:r>
          </a:p>
        </p:txBody>
      </p:sp>
      <p:sp>
        <p:nvSpPr>
          <p:cNvPr id="27" name="Text outlined82">
            <a:extLst>
              <a:ext uri="{FF2B5EF4-FFF2-40B4-BE49-F238E27FC236}">
                <a16:creationId xmlns:a16="http://schemas.microsoft.com/office/drawing/2014/main" id="{0629565B-0D00-7D28-283E-6A59C4D82EEA}"/>
              </a:ext>
            </a:extLst>
          </p:cNvPr>
          <p:cNvSpPr/>
          <p:nvPr/>
        </p:nvSpPr>
        <p:spPr>
          <a:xfrm>
            <a:off x="9331111" y="491308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FastAPI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v— · Python veri servisi</a:t>
            </a:r>
          </a:p>
        </p:txBody>
      </p:sp>
      <p:sp>
        <p:nvSpPr>
          <p:cNvPr id="29" name="Text outlined84">
            <a:extLst>
              <a:ext uri="{FF2B5EF4-FFF2-40B4-BE49-F238E27FC236}">
                <a16:creationId xmlns:a16="http://schemas.microsoft.com/office/drawing/2014/main" id="{2DDFAB12-A6CF-D0DE-FF27-61D02946FFB7}"/>
              </a:ext>
            </a:extLst>
          </p:cNvPr>
          <p:cNvSpPr/>
          <p:nvPr/>
        </p:nvSpPr>
        <p:spPr>
          <a:xfrm>
            <a:off x="9331111" y="5400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TCMB XML API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v— · Canlı kur (60sn)</a:t>
            </a:r>
          </a:p>
        </p:txBody>
      </p:sp>
      <p:sp>
        <p:nvSpPr>
          <p:cNvPr id="30" name="Text outlined85">
            <a:extLst>
              <a:ext uri="{FF2B5EF4-FFF2-40B4-BE49-F238E27FC236}">
                <a16:creationId xmlns:a16="http://schemas.microsoft.com/office/drawing/2014/main" id="{78A44540-B902-DEE0-1FBD-B80B6604C13A}"/>
              </a:ext>
            </a:extLst>
          </p:cNvPr>
          <p:cNvSpPr/>
          <p:nvPr/>
        </p:nvSpPr>
        <p:spPr>
          <a:xfrm>
            <a:off x="9331111" y="5895899"/>
            <a:ext cx="2150000" cy="4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23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400" b="1" dirty="0">
                <a:solidFill>
                  <a:srgbClr val="00234A"/>
                </a:solidFill>
                <a:latin typeface="Calibri" pitchFamily="34" charset="0"/>
              </a:rPr>
              <a:t>EVDS API</a:t>
            </a:r>
          </a:p>
          <a:p>
            <a:pPr marL="0" indent="0">
              <a:buNone/>
            </a:pPr>
            <a:r>
              <a:rPr lang="tr-TR" sz="1400" dirty="0">
                <a:solidFill>
                  <a:srgbClr val="555555"/>
                </a:solidFill>
                <a:latin typeface="Calibri" pitchFamily="34" charset="0"/>
              </a:rPr>
              <a:t>v— · 6 makro seri</a:t>
            </a:r>
          </a:p>
        </p:txBody>
      </p:sp>
    </p:spTree>
    <p:extLst>
      <p:ext uri="{BB962C8B-B14F-4D97-AF65-F5344CB8AC3E}">
        <p14:creationId xmlns:p14="http://schemas.microsoft.com/office/powerpoint/2010/main" val="221040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Araştırma Sonuçları ve Tartışma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8/11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43A530E-1F21-4A7F-CD19-7FBE4744A0BD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1212D68-8BB0-5873-CEB3-783DB1B5C5FB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9B75BF3-B158-9D75-1441-C070984CD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sp>
        <p:nvSpPr>
          <p:cNvPr id="13" name="İçerik Yer Tutucusu 2">
            <a:extLst>
              <a:ext uri="{FF2B5EF4-FFF2-40B4-BE49-F238E27FC236}">
                <a16:creationId xmlns:a16="http://schemas.microsoft.com/office/drawing/2014/main" id="{A3D8BA94-11D3-3F2C-2543-5D1B0C77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1" y="1514168"/>
            <a:ext cx="8298714" cy="4814914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  <a:buNone/>
            </a:pPr>
            <a:r>
              <a:rPr lang="tr-TR" sz="2400" b="1" dirty="0">
                <a:solidFill>
                  <a:srgbClr val="FDCC14"/>
                </a:solidFill>
                <a:effectLst/>
                <a:latin typeface="Calibri"/>
              </a:rPr>
              <a:t>API Yanıt Süreleri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Anlık kurlar neredeyse sıfır gecikmeyle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gelir.`GET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currencies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 ~20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altında yanıt verir; 60 saniyelik in-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önbellek TCMB'ye gereksiz istek atmayı engeller.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Ağır iş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pipeline'a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devredilir. `POST /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portfolio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 30–120 sn sürebilir; ancak kullanıcı bu süreçte durmaz. Sonuç </a:t>
            </a:r>
            <a:r>
              <a:rPr lang="tr-TR" b="1" dirty="0" err="1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</a:t>
            </a: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üzerinden anlık iletilir.</a:t>
            </a:r>
          </a:p>
          <a:p>
            <a:pPr marL="0" indent="0">
              <a:buNone/>
            </a:pPr>
            <a:r>
              <a:rPr lang="tr-TR" sz="2400" b="1" dirty="0">
                <a:solidFill>
                  <a:srgbClr val="FDCC14"/>
                </a:solidFill>
                <a:effectLst/>
                <a:latin typeface="Calibri"/>
              </a:rPr>
              <a:t>Tartışma</a:t>
            </a:r>
            <a:endParaRPr lang="tr-TR" sz="2400" b="1" dirty="0">
              <a:solidFill>
                <a:srgbClr val="00234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NOTR belirsizliği beklenen bir durum. Karma makro sinyallerde modelin NOTR dönmesi tutarsızlık değil, etiket tanımının doğal sınırıdır; daha net eşik değerleriyle azaltılabilir.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b="1" dirty="0">
                <a:solidFill>
                  <a:srgbClr val="00234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ve üretim aynı API anahtarını paylaşmamalı. Gemini kota aşımı bu projede test sırasında tespit edildi. Ayrı test anahtarı edinilmesi birinci öncelikli öneri olarak belirlendi.</a:t>
            </a:r>
          </a:p>
        </p:txBody>
      </p:sp>
    </p:spTree>
    <p:extLst>
      <p:ext uri="{BB962C8B-B14F-4D97-AF65-F5344CB8AC3E}">
        <p14:creationId xmlns:p14="http://schemas.microsoft.com/office/powerpoint/2010/main" val="82691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</a:t>
            </a: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Sonuçlar ve Öneriler</a:t>
            </a:r>
            <a:endParaRPr lang="tr-TR" sz="3200" cap="none" dirty="0">
              <a:solidFill>
                <a:srgbClr val="00234A"/>
              </a:solidFill>
              <a:effectLst/>
              <a:ea typeface="Cambria" panose="020405030504060302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effectLst/>
                <a:latin typeface="Bookman Old Style"/>
                <a:ea typeface="Cambria" panose="02040503050406030204" pitchFamily="18" charset="0"/>
              </a:rPr>
              <a:t>9/11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5046E61-169E-4C5A-4A00-18EADBF64B3E}"/>
              </a:ext>
            </a:extLst>
          </p:cNvPr>
          <p:cNvSpPr txBox="1"/>
          <p:nvPr/>
        </p:nvSpPr>
        <p:spPr>
          <a:xfrm>
            <a:off x="491706" y="1514168"/>
            <a:ext cx="8178882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None/>
            </a:pPr>
            <a:r>
              <a:rPr lang="tr-TR" sz="2200" b="1" dirty="0">
                <a:solidFill>
                  <a:srgbClr val="FDCC14"/>
                </a:solidFill>
                <a:effectLst/>
                <a:latin typeface="Calibri"/>
              </a:rPr>
              <a:t>Teknik Sonuçlar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RAFT ile ince ayarlı Qwen2.5-3B modeli, makroekonomik risk sınıflandırmasında deterministik testlerin tamamını geçti (%100)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İki aşamalı LLM mimarisi (yerel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Qwen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bulut Gemini) hem gizlilik hem kalite hedeflerini karşıladı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testlik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DeepEval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süiti; API bağımsız testlerin tamamı (%100) başarıyla geçiyor</a:t>
            </a:r>
          </a:p>
          <a:p>
            <a:pPr>
              <a:spcBef>
                <a:spcPts val="300"/>
              </a:spcBef>
            </a:pPr>
            <a:r>
              <a:rPr lang="tr-TR" sz="2200" b="1" dirty="0">
                <a:solidFill>
                  <a:srgbClr val="FDCC14"/>
                </a:solidFill>
                <a:latin typeface="Calibri"/>
              </a:rPr>
              <a:t>Gelecek Öneriler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Kısa vade: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Graceful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shutdown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birim testleri, CORS kısıtlaması sıkılaştırma,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logları temizleme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Orta vade: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Redis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dağıtık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portföy analizi asenkron kuyruk, </a:t>
            </a:r>
            <a:r>
              <a:rPr lang="tr-TR" sz="2000" b="1" dirty="0" err="1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GoldProvider</a:t>
            </a:r>
            <a:r>
              <a:rPr lang="tr-TR" sz="2000" b="1" dirty="0">
                <a:solidFill>
                  <a:srgbClr val="0023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BIST entegrasyonu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B00DC6B-B03F-89FD-B6E0-AAE84449EC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A8D60C2-4ED5-F947-718E-51332A817EF0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45BB3B8-6B32-4028-DBC7-3F5AB8BFE85D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59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Kaynaklar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10/11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9117E05-39DD-A71B-7641-06F5E5654E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B375C141-A818-7D94-8B7D-6C80827364CB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36E76FC-A64E-F10C-2BFA-88BBC8BC2C8D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20" name="Kaynaklar Kutusu"/>
          <p:cNvSpPr txBox="1"/>
          <p:nvPr/>
        </p:nvSpPr>
        <p:spPr>
          <a:xfrm>
            <a:off x="349625" y="1180000"/>
            <a:ext cx="85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Alibaba Cloud. (2024). Qwen2.5 Technical Report. arXiv:2412.15115.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Confident AI. (2024). DeepEval: The LLM Evaluation Framework (v4.0.4). GitHub.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Wu, S. vd. (2023). BloombergGPT: A large language model for finance. arXiv:2303.17564.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Yang, H. vd. (2023). FinGPT: Open-source financial large language models. arXiv:2306.06031.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Zhang, T. vd. (2024). RAFT: Adapting language model to domain specific RAG. arXiv:2403.10131.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Meese, R.A. &amp; Rogoff, K. (1983). Empirical exchange rate models. J. Intl. Economics, 14(1-2), 3-24.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T.C. Merkez Bankası. (2024). EVDS Kullanım Kılavuzu. https://evds2.tcmb.gov.tr</a:t>
            </a:r>
          </a:p>
          <a:p>
            <a:pPr marL="228600" indent="-228600" algn="l">
              <a:lnSpc>
                <a:spcPts val="19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tr-TR" sz="1650" b="0" dirty="0">
                <a:solidFill>
                  <a:srgbClr val="00234A"/>
                </a:solidFill>
                <a:latin typeface="Calibri"/>
              </a:rPr>
              <a:t>Statista. (2024). Number of mobile banking users worldwide from 2020 to 2028.</a:t>
            </a:r>
          </a:p>
        </p:txBody>
      </p:sp>
    </p:spTree>
    <p:extLst>
      <p:ext uri="{BB962C8B-B14F-4D97-AF65-F5344CB8AC3E}">
        <p14:creationId xmlns:p14="http://schemas.microsoft.com/office/powerpoint/2010/main" val="87579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van 1">
            <a:extLst>
              <a:ext uri="{FF2B5EF4-FFF2-40B4-BE49-F238E27FC236}">
                <a16:creationId xmlns:a16="http://schemas.microsoft.com/office/drawing/2014/main" id="{DE78D9E8-ED44-4B4F-9A28-13C881D90B74}"/>
              </a:ext>
            </a:extLst>
          </p:cNvPr>
          <p:cNvSpPr txBox="1">
            <a:spLocks/>
          </p:cNvSpPr>
          <p:nvPr/>
        </p:nvSpPr>
        <p:spPr>
          <a:xfrm>
            <a:off x="0" y="2883605"/>
            <a:ext cx="10672688" cy="1090790"/>
          </a:xfrm>
          <a:prstGeom prst="rect">
            <a:avLst/>
          </a:prstGeo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200" b="1" i="0" cap="all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  <a:cs typeface="+mj-cs"/>
              </a:defRPr>
            </a:lvl1pPr>
          </a:lstStyle>
          <a:p>
            <a:pPr algn="ctr"/>
            <a:r>
              <a:rPr lang="tr-TR" sz="4800" cap="none" dirty="0">
                <a:solidFill>
                  <a:srgbClr val="00234A"/>
                </a:solidFill>
              </a:rPr>
              <a:t>Teşekkürler…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92740A4-6F24-47E0-9954-01767207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5DBE44-9D14-4AC8-998C-BB2FCB24FC38}"/>
              </a:ext>
            </a:extLst>
          </p:cNvPr>
          <p:cNvSpPr txBox="1">
            <a:spLocks/>
          </p:cNvSpPr>
          <p:nvPr/>
        </p:nvSpPr>
        <p:spPr>
          <a:xfrm>
            <a:off x="10831053" y="2883605"/>
            <a:ext cx="1360946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11/11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A28BE6D-FEE6-3A34-760A-7437486E76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36" y="406777"/>
            <a:ext cx="1523826" cy="15238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8C132B1-46E1-6044-5877-13EB8ABE2207}"/>
              </a:ext>
            </a:extLst>
          </p:cNvPr>
          <p:cNvSpPr txBox="1">
            <a:spLocks/>
          </p:cNvSpPr>
          <p:nvPr/>
        </p:nvSpPr>
        <p:spPr>
          <a:xfrm>
            <a:off x="1895706" y="342127"/>
            <a:ext cx="7382763" cy="15170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T.C.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SELÇUK ÜNİVERSİTESİ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TEKNOLOJİ FAKÜLTESİ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BİLGİSAYAR MÜHENDİSLİĞİ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65518C8-C439-6EE5-5AA7-2208168FB8E4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 Çağrı TEKİN	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2548565-5F30-9B9A-3BB7-0A054927B0F2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Resim 8">
            <a:extLst>
              <a:ext uri="{FF2B5EF4-FFF2-40B4-BE49-F238E27FC236}">
                <a16:creationId xmlns:a16="http://schemas.microsoft.com/office/drawing/2014/main" id="{F74CCDC6-FF4B-3866-CA30-BC057891D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589020"/>
            <a:ext cx="3392062" cy="12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02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Özel 3">
      <a:majorFont>
        <a:latin typeface="Bookman Old Style"/>
        <a:ea typeface=""/>
        <a:cs typeface=""/>
      </a:majorFont>
      <a:minorFont>
        <a:latin typeface="Rockwell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amask">
    <a:dk1>
      <a:sysClr val="windowText" lastClr="000000"/>
    </a:dk1>
    <a:lt1>
      <a:sysClr val="window" lastClr="FFFFFF"/>
    </a:lt1>
    <a:dk2>
      <a:srgbClr val="2A5B7F"/>
    </a:dk2>
    <a:lt2>
      <a:srgbClr val="ABDAFC"/>
    </a:lt2>
    <a:accent1>
      <a:srgbClr val="9EC544"/>
    </a:accent1>
    <a:accent2>
      <a:srgbClr val="50BEA3"/>
    </a:accent2>
    <a:accent3>
      <a:srgbClr val="4A9CCC"/>
    </a:accent3>
    <a:accent4>
      <a:srgbClr val="9A66CA"/>
    </a:accent4>
    <a:accent5>
      <a:srgbClr val="C54F71"/>
    </a:accent5>
    <a:accent6>
      <a:srgbClr val="DE9C3C"/>
    </a:accent6>
    <a:hlink>
      <a:srgbClr val="6BA9DA"/>
    </a:hlink>
    <a:folHlink>
      <a:srgbClr val="A0BC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44201</TotalTime>
  <Words>1091</Words>
  <Application>Microsoft Office PowerPoint</Application>
  <PresentationFormat>Geniş ekran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Rockwell</vt:lpstr>
      <vt:lpstr>Wingdings</vt:lpstr>
      <vt:lpstr>Damask</vt:lpstr>
      <vt:lpstr>PowerPoint Sunusu</vt:lpstr>
      <vt:lpstr> İçindekiler</vt:lpstr>
      <vt:lpstr> Giriş</vt:lpstr>
      <vt:lpstr> Kaynak Araştırması</vt:lpstr>
      <vt:lpstr> Materyal ve Yöntem</vt:lpstr>
      <vt:lpstr> Materyal ve Yöntem</vt:lpstr>
      <vt:lpstr> Materyal ve Yöntem</vt:lpstr>
      <vt:lpstr> Araştırma Sonuçları ve Tartışma</vt:lpstr>
      <vt:lpstr> Sonuçlar ve Öneriler</vt:lpstr>
      <vt:lpstr> Kaynaklar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ÇAĞRI TEKİN</cp:lastModifiedBy>
  <cp:revision>935</cp:revision>
  <dcterms:created xsi:type="dcterms:W3CDTF">2014-09-16T21:27:06Z</dcterms:created>
  <dcterms:modified xsi:type="dcterms:W3CDTF">2026-06-01T08:48:55Z</dcterms:modified>
</cp:coreProperties>
</file>